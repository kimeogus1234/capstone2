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75" r:id="rId12"/>
    <p:sldId id="266" r:id="rId13"/>
    <p:sldId id="269" r:id="rId14"/>
    <p:sldId id="273" r:id="rId15"/>
    <p:sldId id="270" r:id="rId16"/>
    <p:sldId id="274" r:id="rId17"/>
    <p:sldId id="271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853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0424" autoAdjust="0"/>
  </p:normalViewPr>
  <p:slideViewPr>
    <p:cSldViewPr>
      <p:cViewPr varScale="1">
        <p:scale>
          <a:sx n="45" d="100"/>
          <a:sy n="45" d="100"/>
        </p:scale>
        <p:origin x="738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69600-8C91-464B-A599-7E263D48E072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59C4A-01F7-4F2F-9529-03270EBFC2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95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59C4A-01F7-4F2F-9529-03270EBFC28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147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59C4A-01F7-4F2F-9529-03270EBFC28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7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59C4A-01F7-4F2F-9529-03270EBFC28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272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59C4A-01F7-4F2F-9529-03270EBFC28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731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59C4A-01F7-4F2F-9529-03270EBFC28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38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F59C4A-01F7-4F2F-9529-03270EBFC28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679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59C4A-01F7-4F2F-9529-03270EBFC28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87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8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10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10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3.png"/><Relationship Id="rId10" Type="http://schemas.openxmlformats.org/officeDocument/2006/relationships/image" Target="../media/image57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image" Target="../media/image59.png"/><Relationship Id="rId7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10.png"/><Relationship Id="rId4" Type="http://schemas.openxmlformats.org/officeDocument/2006/relationships/image" Target="../media/image51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5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4705874"/>
            <a:ext cx="255680" cy="3505200"/>
            <a:chOff x="0" y="0"/>
            <a:chExt cx="340906" cy="4673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0868" cy="4673600"/>
            </a:xfrm>
            <a:custGeom>
              <a:avLst/>
              <a:gdLst/>
              <a:ahLst/>
              <a:cxnLst/>
              <a:rect l="l" t="t" r="r" b="b"/>
              <a:pathLst>
                <a:path w="340868" h="4673600">
                  <a:moveTo>
                    <a:pt x="0" y="0"/>
                  </a:moveTo>
                  <a:lnTo>
                    <a:pt x="340868" y="0"/>
                  </a:lnTo>
                  <a:lnTo>
                    <a:pt x="340868" y="4673600"/>
                  </a:lnTo>
                  <a:lnTo>
                    <a:pt x="0" y="467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923427" y="0"/>
            <a:ext cx="3364573" cy="3397196"/>
            <a:chOff x="0" y="0"/>
            <a:chExt cx="4486097" cy="45295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86148" cy="4529582"/>
            </a:xfrm>
            <a:custGeom>
              <a:avLst/>
              <a:gdLst/>
              <a:ahLst/>
              <a:cxnLst/>
              <a:rect l="l" t="t" r="r" b="b"/>
              <a:pathLst>
                <a:path w="4486148" h="4529582">
                  <a:moveTo>
                    <a:pt x="0" y="0"/>
                  </a:moveTo>
                  <a:lnTo>
                    <a:pt x="4486148" y="0"/>
                  </a:lnTo>
                  <a:lnTo>
                    <a:pt x="4486148" y="4529582"/>
                  </a:lnTo>
                  <a:lnTo>
                    <a:pt x="0" y="4529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28587" y="2955379"/>
            <a:ext cx="259413" cy="7331621"/>
            <a:chOff x="0" y="0"/>
            <a:chExt cx="345884" cy="97754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5821" cy="9775444"/>
            </a:xfrm>
            <a:custGeom>
              <a:avLst/>
              <a:gdLst/>
              <a:ahLst/>
              <a:cxnLst/>
              <a:rect l="l" t="t" r="r" b="b"/>
              <a:pathLst>
                <a:path w="345821" h="9775444">
                  <a:moveTo>
                    <a:pt x="0" y="0"/>
                  </a:moveTo>
                  <a:lnTo>
                    <a:pt x="345821" y="0"/>
                  </a:lnTo>
                  <a:lnTo>
                    <a:pt x="345821" y="9775444"/>
                  </a:lnTo>
                  <a:lnTo>
                    <a:pt x="0" y="977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37161" y="5362308"/>
            <a:ext cx="228600" cy="3505200"/>
            <a:chOff x="0" y="0"/>
            <a:chExt cx="304800" cy="4673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" cy="4673600"/>
            </a:xfrm>
            <a:custGeom>
              <a:avLst/>
              <a:gdLst/>
              <a:ahLst/>
              <a:cxnLst/>
              <a:rect l="l" t="t" r="r" b="b"/>
              <a:pathLst>
                <a:path w="304800" h="4673600">
                  <a:moveTo>
                    <a:pt x="0" y="0"/>
                  </a:moveTo>
                  <a:lnTo>
                    <a:pt x="304800" y="0"/>
                  </a:lnTo>
                  <a:lnTo>
                    <a:pt x="304800" y="4673600"/>
                  </a:lnTo>
                  <a:lnTo>
                    <a:pt x="0" y="467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7144" y="8644499"/>
            <a:ext cx="16897350" cy="219075"/>
            <a:chOff x="0" y="0"/>
            <a:chExt cx="22529800" cy="292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529800" cy="292100"/>
            </a:xfrm>
            <a:custGeom>
              <a:avLst/>
              <a:gdLst/>
              <a:ahLst/>
              <a:cxnLst/>
              <a:rect l="l" t="t" r="r" b="b"/>
              <a:pathLst>
                <a:path w="22529800" h="292100">
                  <a:moveTo>
                    <a:pt x="0" y="0"/>
                  </a:moveTo>
                  <a:lnTo>
                    <a:pt x="22529800" y="0"/>
                  </a:lnTo>
                  <a:lnTo>
                    <a:pt x="225298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513164" y="1828754"/>
            <a:ext cx="9476594" cy="2186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20"/>
              </a:lnSpc>
            </a:pPr>
            <a:r>
              <a:rPr lang="en-US" sz="13229" b="1" dirty="0" err="1">
                <a:latin typeface="경기천년제목 Bold"/>
                <a:ea typeface="경기천년제목 Bold"/>
                <a:cs typeface="경기천년제목 Bold"/>
                <a:sym typeface="경기천년제목 Bold"/>
              </a:rPr>
              <a:t>마당</a:t>
            </a:r>
            <a:r>
              <a:rPr lang="en-US" sz="13229" b="1" dirty="0">
                <a:latin typeface="경기천년제목 Bold"/>
                <a:ea typeface="경기천년제목 Bold"/>
                <a:cs typeface="경기천년제목 Bold"/>
                <a:sym typeface="경기천년제목 Bold"/>
              </a:rPr>
              <a:t> </a:t>
            </a:r>
            <a:r>
              <a:rPr lang="en-US" sz="13229" b="1" dirty="0" err="1">
                <a:latin typeface="경기천년제목 Bold"/>
                <a:ea typeface="경기천년제목 Bold"/>
                <a:cs typeface="경기천년제목 Bold"/>
                <a:sym typeface="경기천년제목 Bold"/>
              </a:rPr>
              <a:t>마켓</a:t>
            </a:r>
            <a:endParaRPr lang="en-US" sz="13229" b="1" dirty="0">
              <a:latin typeface="경기천년제목 Bold"/>
              <a:ea typeface="경기천년제목 Bold"/>
              <a:cs typeface="경기천년제목 Bold"/>
              <a:sym typeface="경기천년제목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69684" y="5292047"/>
            <a:ext cx="4040515" cy="612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3558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프로젝트</a:t>
            </a:r>
            <a:r>
              <a:rPr lang="en-US" sz="3558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3558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정보</a:t>
            </a:r>
            <a:r>
              <a:rPr lang="en-US" sz="3558" b="1" dirty="0">
                <a:latin typeface="Nanum Gothic Bold"/>
                <a:ea typeface="Nanum Gothic Bold"/>
                <a:cs typeface="Nanum Gothic Bold"/>
                <a:sym typeface="Nanum Gothic Bold"/>
              </a:rPr>
              <a:t>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81742" y="5236721"/>
            <a:ext cx="2868082" cy="612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3558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개발</a:t>
            </a:r>
            <a:r>
              <a:rPr lang="en-US" sz="3558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3558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정보</a:t>
            </a:r>
            <a:endParaRPr lang="en-US" sz="3558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32465" y="6100086"/>
            <a:ext cx="4407970" cy="2115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2400" b="1" dirty="0" err="1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프로젝트명</a:t>
            </a:r>
            <a:r>
              <a:rPr lang="en-US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: </a:t>
            </a:r>
            <a:r>
              <a:rPr lang="en-US" sz="2400" dirty="0" err="1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마당</a:t>
            </a:r>
            <a:r>
              <a:rPr lang="en-US" sz="2400" dirty="0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 </a:t>
            </a:r>
            <a:r>
              <a:rPr lang="en-US" sz="2400" dirty="0" err="1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마켓</a:t>
            </a:r>
            <a:r>
              <a:rPr lang="en-US" sz="2400" dirty="0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 </a:t>
            </a:r>
          </a:p>
          <a:p>
            <a:pPr>
              <a:lnSpc>
                <a:spcPts val="5549"/>
              </a:lnSpc>
            </a:pPr>
            <a:r>
              <a:rPr lang="en-US" altLang="ko-KR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팀</a:t>
            </a:r>
            <a:r>
              <a:rPr lang="ko-KR" altLang="en-US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장</a:t>
            </a:r>
            <a:r>
              <a:rPr lang="en-US" altLang="ko-KR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: </a:t>
            </a:r>
            <a:r>
              <a:rPr lang="en-US" sz="2400" dirty="0" err="1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김대현</a:t>
            </a:r>
            <a:endParaRPr lang="en-US" sz="2400" dirty="0">
              <a:solidFill>
                <a:schemeClr val="tx1">
                  <a:alpha val="64706"/>
                </a:schemeClr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algn="l">
              <a:lnSpc>
                <a:spcPts val="5549"/>
              </a:lnSpc>
            </a:pPr>
            <a:r>
              <a:rPr lang="en-US" sz="2400" b="1" dirty="0" err="1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팀원</a:t>
            </a:r>
            <a:r>
              <a:rPr lang="en-US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: </a:t>
            </a:r>
            <a:r>
              <a:rPr lang="en-US" sz="2400" dirty="0" err="1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배준혁</a:t>
            </a:r>
            <a:r>
              <a:rPr lang="en-US" sz="2400" dirty="0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, 이승재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81742" y="6161399"/>
            <a:ext cx="4886858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48"/>
              </a:lnSpc>
            </a:pPr>
            <a:r>
              <a:rPr lang="en-US" sz="2400" b="1" dirty="0" err="1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작품분야</a:t>
            </a:r>
            <a:r>
              <a:rPr lang="en-US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: </a:t>
            </a:r>
            <a:r>
              <a:rPr lang="en-US" sz="2400" dirty="0" err="1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모바일</a:t>
            </a:r>
            <a:r>
              <a:rPr lang="en-US" sz="2400" dirty="0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, 웹</a:t>
            </a:r>
          </a:p>
          <a:p>
            <a:pPr>
              <a:lnSpc>
                <a:spcPts val="5248"/>
              </a:lnSpc>
            </a:pPr>
            <a:r>
              <a:rPr lang="ko-KR" altLang="en-US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전화번호</a:t>
            </a:r>
            <a:r>
              <a:rPr lang="en-US" altLang="ko-KR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: </a:t>
            </a:r>
            <a:r>
              <a:rPr lang="en-US" sz="2400" dirty="0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 010-5239-9175</a:t>
            </a:r>
          </a:p>
          <a:p>
            <a:pPr algn="l">
              <a:lnSpc>
                <a:spcPts val="5248"/>
              </a:lnSpc>
            </a:pPr>
            <a:r>
              <a:rPr lang="en-US" sz="2400" b="1" dirty="0" err="1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자도교수</a:t>
            </a:r>
            <a:r>
              <a:rPr lang="en-US" sz="2400" b="1" dirty="0">
                <a:solidFill>
                  <a:schemeClr val="tx1">
                    <a:alpha val="64706"/>
                  </a:schemeClr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: </a:t>
            </a:r>
            <a:r>
              <a:rPr lang="en-US" sz="2400" dirty="0" err="1">
                <a:solidFill>
                  <a:schemeClr val="tx1">
                    <a:alpha val="64706"/>
                  </a:schemeClr>
                </a:solidFill>
                <a:latin typeface="Nanum Gothic"/>
                <a:ea typeface="Nanum Gothic"/>
                <a:cs typeface="Nanum Gothic"/>
                <a:sym typeface="Nanum Gothic"/>
              </a:rPr>
              <a:t>민준식</a:t>
            </a:r>
            <a:endParaRPr lang="en-US" sz="2400" dirty="0">
              <a:solidFill>
                <a:schemeClr val="tx1">
                  <a:alpha val="64706"/>
                </a:schemeClr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26" name="Freeform 30">
            <a:extLst>
              <a:ext uri="{FF2B5EF4-FFF2-40B4-BE49-F238E27FC236}">
                <a16:creationId xmlns:a16="http://schemas.microsoft.com/office/drawing/2014/main" id="{A9D2A9BE-6342-6500-B9E6-4951FBB83483}"/>
              </a:ext>
            </a:extLst>
          </p:cNvPr>
          <p:cNvSpPr/>
          <p:nvPr/>
        </p:nvSpPr>
        <p:spPr>
          <a:xfrm>
            <a:off x="0" y="0"/>
            <a:ext cx="4668470" cy="1423426"/>
          </a:xfrm>
          <a:custGeom>
            <a:avLst/>
            <a:gdLst/>
            <a:ahLst/>
            <a:cxnLst/>
            <a:rect l="l" t="t" r="r" b="b"/>
            <a:pathLst>
              <a:path w="4668470" h="1602609">
                <a:moveTo>
                  <a:pt x="0" y="0"/>
                </a:moveTo>
                <a:lnTo>
                  <a:pt x="4668470" y="0"/>
                </a:lnTo>
                <a:lnTo>
                  <a:pt x="4668470" y="1602609"/>
                </a:lnTo>
                <a:lnTo>
                  <a:pt x="0" y="1602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0941252D-638C-2AF9-0056-6F0D372658CC}"/>
              </a:ext>
            </a:extLst>
          </p:cNvPr>
          <p:cNvSpPr txBox="1"/>
          <p:nvPr/>
        </p:nvSpPr>
        <p:spPr>
          <a:xfrm>
            <a:off x="17832515" y="10004070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1/17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88FF9E7-6AAC-D860-13B1-B1ADB21337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346" y="4704750"/>
            <a:ext cx="16899577" cy="219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2">
            <a:extLst>
              <a:ext uri="{FF2B5EF4-FFF2-40B4-BE49-F238E27FC236}">
                <a16:creationId xmlns:a16="http://schemas.microsoft.com/office/drawing/2014/main" id="{66F3D310-35BA-5A00-1007-B4B182D2CFE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2" name="Freeform 3" descr="preencoded.png">
              <a:extLst>
                <a:ext uri="{FF2B5EF4-FFF2-40B4-BE49-F238E27FC236}">
                  <a16:creationId xmlns:a16="http://schemas.microsoft.com/office/drawing/2014/main" id="{5AD98589-73E7-222D-DDDD-84C1A9062C8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3" name="Freeform 4">
            <a:extLst>
              <a:ext uri="{FF2B5EF4-FFF2-40B4-BE49-F238E27FC236}">
                <a16:creationId xmlns:a16="http://schemas.microsoft.com/office/drawing/2014/main" id="{A6F9C9AF-A41C-D622-315F-02AA2808D104}"/>
              </a:ext>
            </a:extLst>
          </p:cNvPr>
          <p:cNvSpPr/>
          <p:nvPr/>
        </p:nvSpPr>
        <p:spPr>
          <a:xfrm>
            <a:off x="685800" y="1680328"/>
            <a:ext cx="16649833" cy="7024967"/>
          </a:xfrm>
          <a:custGeom>
            <a:avLst/>
            <a:gdLst/>
            <a:ahLst/>
            <a:cxnLst/>
            <a:rect l="l" t="t" r="r" b="b"/>
            <a:pathLst>
              <a:path w="16649833" h="7024967">
                <a:moveTo>
                  <a:pt x="0" y="0"/>
                </a:moveTo>
                <a:lnTo>
                  <a:pt x="16649833" y="0"/>
                </a:lnTo>
                <a:lnTo>
                  <a:pt x="16649833" y="7024967"/>
                </a:lnTo>
                <a:lnTo>
                  <a:pt x="0" y="702496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38100">
            <a:solidFill>
              <a:srgbClr val="D4A853"/>
            </a:solidFill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4" name="Group 5">
            <a:extLst>
              <a:ext uri="{FF2B5EF4-FFF2-40B4-BE49-F238E27FC236}">
                <a16:creationId xmlns:a16="http://schemas.microsoft.com/office/drawing/2014/main" id="{E051B22E-3BA5-6417-EFA5-B1CADA647973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35" name="Freeform 6" descr="preencoded.png">
              <a:extLst>
                <a:ext uri="{FF2B5EF4-FFF2-40B4-BE49-F238E27FC236}">
                  <a16:creationId xmlns:a16="http://schemas.microsoft.com/office/drawing/2014/main" id="{44035CE0-E19F-01D2-3165-B6115C3F683E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CF107FEE-91D2-4E5C-A709-354F1F62040D}"/>
              </a:ext>
            </a:extLst>
          </p:cNvPr>
          <p:cNvGrpSpPr/>
          <p:nvPr/>
        </p:nvGrpSpPr>
        <p:grpSpPr>
          <a:xfrm>
            <a:off x="1028700" y="2132120"/>
            <a:ext cx="5094924" cy="3217832"/>
            <a:chOff x="0" y="0"/>
            <a:chExt cx="1243508" cy="785370"/>
          </a:xfrm>
        </p:grpSpPr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456EC9C6-E732-E19E-9FB0-64F30FE72497}"/>
                </a:ext>
              </a:extLst>
            </p:cNvPr>
            <p:cNvSpPr/>
            <p:nvPr/>
          </p:nvSpPr>
          <p:spPr>
            <a:xfrm>
              <a:off x="0" y="0"/>
              <a:ext cx="1243508" cy="785370"/>
            </a:xfrm>
            <a:custGeom>
              <a:avLst/>
              <a:gdLst/>
              <a:ahLst/>
              <a:cxnLst/>
              <a:rect l="l" t="t" r="r" b="b"/>
              <a:pathLst>
                <a:path w="1243508" h="785370">
                  <a:moveTo>
                    <a:pt x="42547" y="0"/>
                  </a:moveTo>
                  <a:lnTo>
                    <a:pt x="1200961" y="0"/>
                  </a:lnTo>
                  <a:cubicBezTo>
                    <a:pt x="1224459" y="0"/>
                    <a:pt x="1243508" y="19049"/>
                    <a:pt x="1243508" y="42547"/>
                  </a:cubicBezTo>
                  <a:lnTo>
                    <a:pt x="1243508" y="742823"/>
                  </a:lnTo>
                  <a:cubicBezTo>
                    <a:pt x="1243508" y="754107"/>
                    <a:pt x="1239025" y="764929"/>
                    <a:pt x="1231046" y="772908"/>
                  </a:cubicBezTo>
                  <a:cubicBezTo>
                    <a:pt x="1223067" y="780887"/>
                    <a:pt x="1212245" y="785370"/>
                    <a:pt x="1200961" y="785370"/>
                  </a:cubicBezTo>
                  <a:lnTo>
                    <a:pt x="42547" y="785370"/>
                  </a:lnTo>
                  <a:cubicBezTo>
                    <a:pt x="31263" y="785370"/>
                    <a:pt x="20441" y="780887"/>
                    <a:pt x="12462" y="772908"/>
                  </a:cubicBezTo>
                  <a:cubicBezTo>
                    <a:pt x="4483" y="764929"/>
                    <a:pt x="0" y="754107"/>
                    <a:pt x="0" y="742823"/>
                  </a:cubicBezTo>
                  <a:lnTo>
                    <a:pt x="0" y="42547"/>
                  </a:lnTo>
                  <a:cubicBezTo>
                    <a:pt x="0" y="31263"/>
                    <a:pt x="4483" y="20441"/>
                    <a:pt x="12462" y="12462"/>
                  </a:cubicBezTo>
                  <a:cubicBezTo>
                    <a:pt x="20441" y="4483"/>
                    <a:pt x="31263" y="0"/>
                    <a:pt x="42547" y="0"/>
                  </a:cubicBezTo>
                  <a:close/>
                </a:path>
              </a:pathLst>
            </a:custGeom>
            <a:solidFill>
              <a:srgbClr val="8D9C97">
                <a:alpha val="19608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9">
              <a:extLst>
                <a:ext uri="{FF2B5EF4-FFF2-40B4-BE49-F238E27FC236}">
                  <a16:creationId xmlns:a16="http://schemas.microsoft.com/office/drawing/2014/main" id="{CE35F09A-4F22-2A48-31AA-0413D00EAE38}"/>
                </a:ext>
              </a:extLst>
            </p:cNvPr>
            <p:cNvSpPr txBox="1"/>
            <p:nvPr/>
          </p:nvSpPr>
          <p:spPr>
            <a:xfrm>
              <a:off x="0" y="0"/>
              <a:ext cx="1243508" cy="785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9"/>
                </a:lnSpc>
              </a:pPr>
              <a:endParaRPr/>
            </a:p>
          </p:txBody>
        </p:sp>
      </p:grpSp>
      <p:grpSp>
        <p:nvGrpSpPr>
          <p:cNvPr id="39" name="Group 10">
            <a:extLst>
              <a:ext uri="{FF2B5EF4-FFF2-40B4-BE49-F238E27FC236}">
                <a16:creationId xmlns:a16="http://schemas.microsoft.com/office/drawing/2014/main" id="{909121BD-1BEE-6C2B-FA85-E5C0A00B54A5}"/>
              </a:ext>
            </a:extLst>
          </p:cNvPr>
          <p:cNvGrpSpPr/>
          <p:nvPr/>
        </p:nvGrpSpPr>
        <p:grpSpPr>
          <a:xfrm>
            <a:off x="6470536" y="2132120"/>
            <a:ext cx="5094924" cy="3217832"/>
            <a:chOff x="0" y="0"/>
            <a:chExt cx="1243508" cy="785370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77725621-57AC-E139-F4D2-8C035F8279F8}"/>
                </a:ext>
              </a:extLst>
            </p:cNvPr>
            <p:cNvSpPr/>
            <p:nvPr/>
          </p:nvSpPr>
          <p:spPr>
            <a:xfrm>
              <a:off x="0" y="0"/>
              <a:ext cx="1243508" cy="785370"/>
            </a:xfrm>
            <a:custGeom>
              <a:avLst/>
              <a:gdLst/>
              <a:ahLst/>
              <a:cxnLst/>
              <a:rect l="l" t="t" r="r" b="b"/>
              <a:pathLst>
                <a:path w="1243508" h="785370">
                  <a:moveTo>
                    <a:pt x="42547" y="0"/>
                  </a:moveTo>
                  <a:lnTo>
                    <a:pt x="1200961" y="0"/>
                  </a:lnTo>
                  <a:cubicBezTo>
                    <a:pt x="1224459" y="0"/>
                    <a:pt x="1243508" y="19049"/>
                    <a:pt x="1243508" y="42547"/>
                  </a:cubicBezTo>
                  <a:lnTo>
                    <a:pt x="1243508" y="742823"/>
                  </a:lnTo>
                  <a:cubicBezTo>
                    <a:pt x="1243508" y="754107"/>
                    <a:pt x="1239025" y="764929"/>
                    <a:pt x="1231046" y="772908"/>
                  </a:cubicBezTo>
                  <a:cubicBezTo>
                    <a:pt x="1223067" y="780887"/>
                    <a:pt x="1212245" y="785370"/>
                    <a:pt x="1200961" y="785370"/>
                  </a:cubicBezTo>
                  <a:lnTo>
                    <a:pt x="42547" y="785370"/>
                  </a:lnTo>
                  <a:cubicBezTo>
                    <a:pt x="31263" y="785370"/>
                    <a:pt x="20441" y="780887"/>
                    <a:pt x="12462" y="772908"/>
                  </a:cubicBezTo>
                  <a:cubicBezTo>
                    <a:pt x="4483" y="764929"/>
                    <a:pt x="0" y="754107"/>
                    <a:pt x="0" y="742823"/>
                  </a:cubicBezTo>
                  <a:lnTo>
                    <a:pt x="0" y="42547"/>
                  </a:lnTo>
                  <a:cubicBezTo>
                    <a:pt x="0" y="31263"/>
                    <a:pt x="4483" y="20441"/>
                    <a:pt x="12462" y="12462"/>
                  </a:cubicBezTo>
                  <a:cubicBezTo>
                    <a:pt x="20441" y="4483"/>
                    <a:pt x="31263" y="0"/>
                    <a:pt x="42547" y="0"/>
                  </a:cubicBezTo>
                  <a:close/>
                </a:path>
              </a:pathLst>
            </a:custGeom>
            <a:solidFill>
              <a:srgbClr val="8D9C97">
                <a:alpha val="19608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12">
              <a:extLst>
                <a:ext uri="{FF2B5EF4-FFF2-40B4-BE49-F238E27FC236}">
                  <a16:creationId xmlns:a16="http://schemas.microsoft.com/office/drawing/2014/main" id="{DB9CBE5B-9FE9-DE98-F865-D2B24D9253D5}"/>
                </a:ext>
              </a:extLst>
            </p:cNvPr>
            <p:cNvSpPr txBox="1"/>
            <p:nvPr/>
          </p:nvSpPr>
          <p:spPr>
            <a:xfrm>
              <a:off x="0" y="0"/>
              <a:ext cx="1243508" cy="785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9"/>
                </a:lnSpc>
              </a:pPr>
              <a:endParaRPr/>
            </a:p>
          </p:txBody>
        </p:sp>
      </p:grpSp>
      <p:grpSp>
        <p:nvGrpSpPr>
          <p:cNvPr id="42" name="Group 13">
            <a:extLst>
              <a:ext uri="{FF2B5EF4-FFF2-40B4-BE49-F238E27FC236}">
                <a16:creationId xmlns:a16="http://schemas.microsoft.com/office/drawing/2014/main" id="{080B534D-CA2B-FF99-FE0B-2E5BB1CC386A}"/>
              </a:ext>
            </a:extLst>
          </p:cNvPr>
          <p:cNvGrpSpPr/>
          <p:nvPr/>
        </p:nvGrpSpPr>
        <p:grpSpPr>
          <a:xfrm>
            <a:off x="11912372" y="2132120"/>
            <a:ext cx="5094924" cy="3217832"/>
            <a:chOff x="0" y="0"/>
            <a:chExt cx="1243508" cy="785370"/>
          </a:xfrm>
        </p:grpSpPr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499D29D5-BE10-547A-A23E-D1F50A28C740}"/>
                </a:ext>
              </a:extLst>
            </p:cNvPr>
            <p:cNvSpPr/>
            <p:nvPr/>
          </p:nvSpPr>
          <p:spPr>
            <a:xfrm>
              <a:off x="0" y="0"/>
              <a:ext cx="1243508" cy="785370"/>
            </a:xfrm>
            <a:custGeom>
              <a:avLst/>
              <a:gdLst/>
              <a:ahLst/>
              <a:cxnLst/>
              <a:rect l="l" t="t" r="r" b="b"/>
              <a:pathLst>
                <a:path w="1243508" h="785370">
                  <a:moveTo>
                    <a:pt x="42547" y="0"/>
                  </a:moveTo>
                  <a:lnTo>
                    <a:pt x="1200961" y="0"/>
                  </a:lnTo>
                  <a:cubicBezTo>
                    <a:pt x="1224459" y="0"/>
                    <a:pt x="1243508" y="19049"/>
                    <a:pt x="1243508" y="42547"/>
                  </a:cubicBezTo>
                  <a:lnTo>
                    <a:pt x="1243508" y="742823"/>
                  </a:lnTo>
                  <a:cubicBezTo>
                    <a:pt x="1243508" y="754107"/>
                    <a:pt x="1239025" y="764929"/>
                    <a:pt x="1231046" y="772908"/>
                  </a:cubicBezTo>
                  <a:cubicBezTo>
                    <a:pt x="1223067" y="780887"/>
                    <a:pt x="1212245" y="785370"/>
                    <a:pt x="1200961" y="785370"/>
                  </a:cubicBezTo>
                  <a:lnTo>
                    <a:pt x="42547" y="785370"/>
                  </a:lnTo>
                  <a:cubicBezTo>
                    <a:pt x="31263" y="785370"/>
                    <a:pt x="20441" y="780887"/>
                    <a:pt x="12462" y="772908"/>
                  </a:cubicBezTo>
                  <a:cubicBezTo>
                    <a:pt x="4483" y="764929"/>
                    <a:pt x="0" y="754107"/>
                    <a:pt x="0" y="742823"/>
                  </a:cubicBezTo>
                  <a:lnTo>
                    <a:pt x="0" y="42547"/>
                  </a:lnTo>
                  <a:cubicBezTo>
                    <a:pt x="0" y="31263"/>
                    <a:pt x="4483" y="20441"/>
                    <a:pt x="12462" y="12462"/>
                  </a:cubicBezTo>
                  <a:cubicBezTo>
                    <a:pt x="20441" y="4483"/>
                    <a:pt x="31263" y="0"/>
                    <a:pt x="42547" y="0"/>
                  </a:cubicBezTo>
                  <a:close/>
                </a:path>
              </a:pathLst>
            </a:custGeom>
            <a:solidFill>
              <a:srgbClr val="8D9C97">
                <a:alpha val="19608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15">
              <a:extLst>
                <a:ext uri="{FF2B5EF4-FFF2-40B4-BE49-F238E27FC236}">
                  <a16:creationId xmlns:a16="http://schemas.microsoft.com/office/drawing/2014/main" id="{5A099419-FBED-DAE4-367F-178BF39AF45F}"/>
                </a:ext>
              </a:extLst>
            </p:cNvPr>
            <p:cNvSpPr txBox="1"/>
            <p:nvPr/>
          </p:nvSpPr>
          <p:spPr>
            <a:xfrm>
              <a:off x="0" y="0"/>
              <a:ext cx="1243508" cy="785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9"/>
                </a:lnSpc>
              </a:pPr>
              <a:endParaRPr/>
            </a:p>
          </p:txBody>
        </p:sp>
      </p:grpSp>
      <p:grpSp>
        <p:nvGrpSpPr>
          <p:cNvPr id="45" name="Group 16">
            <a:extLst>
              <a:ext uri="{FF2B5EF4-FFF2-40B4-BE49-F238E27FC236}">
                <a16:creationId xmlns:a16="http://schemas.microsoft.com/office/drawing/2014/main" id="{1FFEC0F4-7271-B942-29A8-24D6AB3FBB15}"/>
              </a:ext>
            </a:extLst>
          </p:cNvPr>
          <p:cNvGrpSpPr/>
          <p:nvPr/>
        </p:nvGrpSpPr>
        <p:grpSpPr>
          <a:xfrm>
            <a:off x="1028700" y="6404900"/>
            <a:ext cx="15978596" cy="1589255"/>
            <a:chOff x="0" y="0"/>
            <a:chExt cx="3899864" cy="387886"/>
          </a:xfrm>
        </p:grpSpPr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F8B4A1CE-C1F7-C67A-8CFA-F07DDF86B1FD}"/>
                </a:ext>
              </a:extLst>
            </p:cNvPr>
            <p:cNvSpPr/>
            <p:nvPr/>
          </p:nvSpPr>
          <p:spPr>
            <a:xfrm>
              <a:off x="0" y="0"/>
              <a:ext cx="3899864" cy="387886"/>
            </a:xfrm>
            <a:custGeom>
              <a:avLst/>
              <a:gdLst/>
              <a:ahLst/>
              <a:cxnLst/>
              <a:rect l="l" t="t" r="r" b="b"/>
              <a:pathLst>
                <a:path w="3899864" h="387886">
                  <a:moveTo>
                    <a:pt x="13567" y="0"/>
                  </a:moveTo>
                  <a:lnTo>
                    <a:pt x="3886298" y="0"/>
                  </a:lnTo>
                  <a:cubicBezTo>
                    <a:pt x="3893790" y="0"/>
                    <a:pt x="3899864" y="6074"/>
                    <a:pt x="3899864" y="13567"/>
                  </a:cubicBezTo>
                  <a:lnTo>
                    <a:pt x="3899864" y="374320"/>
                  </a:lnTo>
                  <a:cubicBezTo>
                    <a:pt x="3899864" y="381812"/>
                    <a:pt x="3893790" y="387886"/>
                    <a:pt x="3886298" y="387886"/>
                  </a:cubicBezTo>
                  <a:lnTo>
                    <a:pt x="13567" y="387886"/>
                  </a:lnTo>
                  <a:cubicBezTo>
                    <a:pt x="6074" y="387886"/>
                    <a:pt x="0" y="381812"/>
                    <a:pt x="0" y="374320"/>
                  </a:cubicBezTo>
                  <a:lnTo>
                    <a:pt x="0" y="13567"/>
                  </a:lnTo>
                  <a:cubicBezTo>
                    <a:pt x="0" y="6074"/>
                    <a:pt x="6074" y="0"/>
                    <a:pt x="13567" y="0"/>
                  </a:cubicBezTo>
                  <a:close/>
                </a:path>
              </a:pathLst>
            </a:custGeom>
            <a:ln w="28575" cap="rnd">
              <a:solidFill>
                <a:srgbClr val="8D9C97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18">
              <a:extLst>
                <a:ext uri="{FF2B5EF4-FFF2-40B4-BE49-F238E27FC236}">
                  <a16:creationId xmlns:a16="http://schemas.microsoft.com/office/drawing/2014/main" id="{2696ABA0-FC51-ED9D-D40D-EF19E0B33B1B}"/>
                </a:ext>
              </a:extLst>
            </p:cNvPr>
            <p:cNvSpPr txBox="1"/>
            <p:nvPr/>
          </p:nvSpPr>
          <p:spPr>
            <a:xfrm>
              <a:off x="0" y="0"/>
              <a:ext cx="3899864" cy="387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79"/>
                </a:lnSpc>
                <a:spcBef>
                  <a:spcPct val="0"/>
                </a:spcBef>
              </a:pPr>
              <a:r>
                <a:rPr lang="en-US" sz="1816" spc="-92">
                  <a:solidFill>
                    <a:srgbClr val="FFFFFF"/>
                  </a:solidFill>
                  <a:latin typeface="윤고딕"/>
                  <a:ea typeface="윤고딕"/>
                  <a:cs typeface="윤고딕"/>
                  <a:sym typeface="윤고딕"/>
                </a:rPr>
                <a:t>=</a:t>
              </a:r>
            </a:p>
          </p:txBody>
        </p:sp>
      </p:grpSp>
      <p:sp>
        <p:nvSpPr>
          <p:cNvPr id="49" name="Freeform 20">
            <a:extLst>
              <a:ext uri="{FF2B5EF4-FFF2-40B4-BE49-F238E27FC236}">
                <a16:creationId xmlns:a16="http://schemas.microsoft.com/office/drawing/2014/main" id="{44E49D5E-51B5-E823-E311-1C331F36E456}"/>
              </a:ext>
            </a:extLst>
          </p:cNvPr>
          <p:cNvSpPr/>
          <p:nvPr/>
        </p:nvSpPr>
        <p:spPr>
          <a:xfrm>
            <a:off x="3016076" y="2311660"/>
            <a:ext cx="1120172" cy="896138"/>
          </a:xfrm>
          <a:custGeom>
            <a:avLst/>
            <a:gdLst/>
            <a:ahLst/>
            <a:cxnLst/>
            <a:rect l="l" t="t" r="r" b="b"/>
            <a:pathLst>
              <a:path w="1120172" h="896138">
                <a:moveTo>
                  <a:pt x="0" y="0"/>
                </a:moveTo>
                <a:lnTo>
                  <a:pt x="1120172" y="0"/>
                </a:lnTo>
                <a:lnTo>
                  <a:pt x="1120172" y="896138"/>
                </a:lnTo>
                <a:lnTo>
                  <a:pt x="0" y="8961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0" name="Freeform 21">
            <a:extLst>
              <a:ext uri="{FF2B5EF4-FFF2-40B4-BE49-F238E27FC236}">
                <a16:creationId xmlns:a16="http://schemas.microsoft.com/office/drawing/2014/main" id="{D8CCBDC9-76CB-2937-EA6C-D2F02F9DE293}"/>
              </a:ext>
            </a:extLst>
          </p:cNvPr>
          <p:cNvSpPr/>
          <p:nvPr/>
        </p:nvSpPr>
        <p:spPr>
          <a:xfrm>
            <a:off x="8043383" y="2132120"/>
            <a:ext cx="1661577" cy="1267595"/>
          </a:xfrm>
          <a:custGeom>
            <a:avLst/>
            <a:gdLst/>
            <a:ahLst/>
            <a:cxnLst/>
            <a:rect l="l" t="t" r="r" b="b"/>
            <a:pathLst>
              <a:path w="1661577" h="1267595">
                <a:moveTo>
                  <a:pt x="0" y="0"/>
                </a:moveTo>
                <a:lnTo>
                  <a:pt x="1661577" y="0"/>
                </a:lnTo>
                <a:lnTo>
                  <a:pt x="1661577" y="1267595"/>
                </a:lnTo>
                <a:lnTo>
                  <a:pt x="0" y="126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1" name="Freeform 22">
            <a:extLst>
              <a:ext uri="{FF2B5EF4-FFF2-40B4-BE49-F238E27FC236}">
                <a16:creationId xmlns:a16="http://schemas.microsoft.com/office/drawing/2014/main" id="{067AC23F-15E8-45CE-5915-6A60164EC9DB}"/>
              </a:ext>
            </a:extLst>
          </p:cNvPr>
          <p:cNvSpPr/>
          <p:nvPr/>
        </p:nvSpPr>
        <p:spPr>
          <a:xfrm>
            <a:off x="13895708" y="2267198"/>
            <a:ext cx="1128252" cy="997440"/>
          </a:xfrm>
          <a:custGeom>
            <a:avLst/>
            <a:gdLst/>
            <a:ahLst/>
            <a:cxnLst/>
            <a:rect l="l" t="t" r="r" b="b"/>
            <a:pathLst>
              <a:path w="1128252" h="997440">
                <a:moveTo>
                  <a:pt x="0" y="0"/>
                </a:moveTo>
                <a:lnTo>
                  <a:pt x="1128252" y="0"/>
                </a:lnTo>
                <a:lnTo>
                  <a:pt x="1128252" y="997440"/>
                </a:lnTo>
                <a:lnTo>
                  <a:pt x="0" y="997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0363BA48-ED8C-8AFE-9FBE-76C9F826187A}"/>
              </a:ext>
            </a:extLst>
          </p:cNvPr>
          <p:cNvSpPr txBox="1"/>
          <p:nvPr/>
        </p:nvSpPr>
        <p:spPr>
          <a:xfrm>
            <a:off x="685800" y="714375"/>
            <a:ext cx="16916400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프로젝트</a:t>
            </a:r>
            <a:r>
              <a:rPr lang="en-US" sz="405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050" b="1" spc="180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개요</a:t>
            </a:r>
            <a:endParaRPr lang="en-US" sz="405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6A0E15F4-A568-526E-B4B5-7B2995C7EFFD}"/>
              </a:ext>
            </a:extLst>
          </p:cNvPr>
          <p:cNvSpPr txBox="1"/>
          <p:nvPr/>
        </p:nvSpPr>
        <p:spPr>
          <a:xfrm>
            <a:off x="1516225" y="4325300"/>
            <a:ext cx="4107874" cy="36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32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스마트</a:t>
            </a:r>
            <a:r>
              <a:rPr lang="en-US" sz="232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2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쇼핑몰</a:t>
            </a:r>
            <a:r>
              <a:rPr lang="en-US" sz="232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2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플렛폼</a:t>
            </a:r>
            <a:endParaRPr lang="en-US" sz="2320" b="1" spc="-141" dirty="0">
              <a:solidFill>
                <a:srgbClr val="000000">
                  <a:alpha val="53725"/>
                </a:srgb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Source Han Sans KR Bold"/>
            </a:endParaRPr>
          </a:p>
        </p:txBody>
      </p:sp>
      <p:sp>
        <p:nvSpPr>
          <p:cNvPr id="54" name="TextBox 25">
            <a:extLst>
              <a:ext uri="{FF2B5EF4-FFF2-40B4-BE49-F238E27FC236}">
                <a16:creationId xmlns:a16="http://schemas.microsoft.com/office/drawing/2014/main" id="{18C6B162-3B0D-963F-ABEF-F8A633F43ECA}"/>
              </a:ext>
            </a:extLst>
          </p:cNvPr>
          <p:cNvSpPr txBox="1"/>
          <p:nvPr/>
        </p:nvSpPr>
        <p:spPr>
          <a:xfrm>
            <a:off x="6964061" y="4052792"/>
            <a:ext cx="4107874" cy="114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주문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관리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시스템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, </a:t>
            </a:r>
          </a:p>
          <a:p>
            <a:pPr algn="ctr">
              <a:lnSpc>
                <a:spcPts val="3016"/>
              </a:lnSpc>
            </a:pP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스마트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구매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시스템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,</a:t>
            </a:r>
          </a:p>
          <a:p>
            <a:pPr algn="ctr">
              <a:lnSpc>
                <a:spcPts val="3016"/>
              </a:lnSpc>
            </a:pP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배달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관리</a:t>
            </a:r>
            <a:r>
              <a:rPr lang="en-US" sz="2300" b="1" spc="-141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1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시스템</a:t>
            </a:r>
            <a:endParaRPr lang="en-US" sz="2300" b="1" spc="-141" dirty="0">
              <a:solidFill>
                <a:srgbClr val="000000">
                  <a:alpha val="53725"/>
                </a:srgb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Source Han Sans KR Bold"/>
            </a:endParaRPr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959F7AF8-6398-889D-7396-E7AB6C28485F}"/>
              </a:ext>
            </a:extLst>
          </p:cNvPr>
          <p:cNvSpPr txBox="1"/>
          <p:nvPr/>
        </p:nvSpPr>
        <p:spPr>
          <a:xfrm>
            <a:off x="12232177" y="4382449"/>
            <a:ext cx="4455314" cy="386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300" b="1" spc="-148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NFC, </a:t>
            </a:r>
            <a:r>
              <a:rPr lang="en-US" sz="2300" b="1" spc="-148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QR코드</a:t>
            </a:r>
            <a:r>
              <a:rPr lang="en-US" sz="2300" b="1" spc="-148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, </a:t>
            </a:r>
            <a:r>
              <a:rPr lang="en-US" sz="2300" b="1" spc="-148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모바일</a:t>
            </a:r>
            <a:r>
              <a:rPr lang="en-US" sz="2300" b="1" spc="-148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8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복합</a:t>
            </a:r>
            <a:r>
              <a:rPr lang="en-US" sz="2300" b="1" spc="-148" dirty="0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 </a:t>
            </a:r>
            <a:r>
              <a:rPr lang="en-US" sz="2300" b="1" spc="-148" dirty="0" err="1">
                <a:solidFill>
                  <a:srgbClr val="000000">
                    <a:alpha val="53725"/>
                  </a:srgb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Source Han Sans KR Bold"/>
              </a:rPr>
              <a:t>플렛폼</a:t>
            </a:r>
            <a:endParaRPr lang="en-US" sz="2300" b="1" spc="-148" dirty="0">
              <a:solidFill>
                <a:srgbClr val="000000">
                  <a:alpha val="53725"/>
                </a:srgb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Source Han Sans KR Bold"/>
            </a:endParaRPr>
          </a:p>
        </p:txBody>
      </p:sp>
      <p:sp>
        <p:nvSpPr>
          <p:cNvPr id="56" name="TextBox 27">
            <a:extLst>
              <a:ext uri="{FF2B5EF4-FFF2-40B4-BE49-F238E27FC236}">
                <a16:creationId xmlns:a16="http://schemas.microsoft.com/office/drawing/2014/main" id="{C4B88558-F4C7-4EB8-D3E9-DC1C59C49994}"/>
              </a:ext>
            </a:extLst>
          </p:cNvPr>
          <p:cNvSpPr txBox="1"/>
          <p:nvPr/>
        </p:nvSpPr>
        <p:spPr>
          <a:xfrm>
            <a:off x="1565897" y="3439329"/>
            <a:ext cx="4020692" cy="61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7"/>
              </a:lnSpc>
            </a:pPr>
            <a:r>
              <a:rPr lang="en-US" sz="3956" b="1" spc="-201" dirty="0" err="1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작품</a:t>
            </a:r>
            <a:r>
              <a:rPr lang="en-US" sz="3956" b="1" spc="-201" dirty="0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 </a:t>
            </a:r>
            <a:r>
              <a:rPr lang="en-US" sz="3956" b="1" spc="-201" dirty="0" err="1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개요</a:t>
            </a:r>
            <a:endParaRPr lang="en-US" sz="3956" b="1" spc="-201" dirty="0">
              <a:solidFill>
                <a:srgbClr val="000000"/>
              </a:solidFill>
              <a:latin typeface="Noto Sans Bold" panose="020B0802040504020204" pitchFamily="34" charset="0"/>
              <a:ea typeface="Noto Sans Bold" panose="020B0802040504020204" pitchFamily="34" charset="0"/>
              <a:cs typeface="Noto Sans Bold" panose="020B0802040504020204" pitchFamily="34" charset="0"/>
              <a:sym typeface="210 국민체조"/>
            </a:endParaRPr>
          </a:p>
        </p:txBody>
      </p:sp>
      <p:sp>
        <p:nvSpPr>
          <p:cNvPr id="57" name="TextBox 28">
            <a:extLst>
              <a:ext uri="{FF2B5EF4-FFF2-40B4-BE49-F238E27FC236}">
                <a16:creationId xmlns:a16="http://schemas.microsoft.com/office/drawing/2014/main" id="{C575919B-530B-D4B0-A358-1DC54EC45694}"/>
              </a:ext>
            </a:extLst>
          </p:cNvPr>
          <p:cNvSpPr txBox="1"/>
          <p:nvPr/>
        </p:nvSpPr>
        <p:spPr>
          <a:xfrm>
            <a:off x="7007652" y="3439329"/>
            <a:ext cx="4020692" cy="61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7"/>
              </a:lnSpc>
            </a:pPr>
            <a:r>
              <a:rPr lang="en-US" sz="3956" b="1" spc="-201" dirty="0" err="1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주요</a:t>
            </a:r>
            <a:r>
              <a:rPr lang="en-US" sz="3956" b="1" spc="-201" dirty="0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 </a:t>
            </a:r>
            <a:r>
              <a:rPr lang="en-US" sz="3956" b="1" spc="-201" dirty="0" err="1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기능</a:t>
            </a:r>
            <a:endParaRPr lang="en-US" sz="3956" b="1" spc="-201" dirty="0">
              <a:solidFill>
                <a:srgbClr val="000000"/>
              </a:solidFill>
              <a:latin typeface="Noto Sans Bold" panose="020B0802040504020204" pitchFamily="34" charset="0"/>
              <a:ea typeface="Noto Sans Bold" panose="020B0802040504020204" pitchFamily="34" charset="0"/>
              <a:cs typeface="Noto Sans Bold" panose="020B0802040504020204" pitchFamily="34" charset="0"/>
              <a:sym typeface="210 국민체조"/>
            </a:endParaRPr>
          </a:p>
        </p:txBody>
      </p:sp>
      <p:sp>
        <p:nvSpPr>
          <p:cNvPr id="58" name="TextBox 29">
            <a:extLst>
              <a:ext uri="{FF2B5EF4-FFF2-40B4-BE49-F238E27FC236}">
                <a16:creationId xmlns:a16="http://schemas.microsoft.com/office/drawing/2014/main" id="{88639E8D-AA25-A185-BB96-06783ED9AD2E}"/>
              </a:ext>
            </a:extLst>
          </p:cNvPr>
          <p:cNvSpPr txBox="1"/>
          <p:nvPr/>
        </p:nvSpPr>
        <p:spPr>
          <a:xfrm>
            <a:off x="12449488" y="3439329"/>
            <a:ext cx="4020692" cy="61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7"/>
              </a:lnSpc>
            </a:pPr>
            <a:r>
              <a:rPr lang="en-US" sz="3956" b="1" spc="-201" dirty="0" err="1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구현</a:t>
            </a:r>
            <a:r>
              <a:rPr lang="en-US" sz="3956" b="1" spc="-201" dirty="0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 </a:t>
            </a:r>
            <a:r>
              <a:rPr lang="en-US" sz="3956" b="1" spc="-201" dirty="0" err="1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210 국민체조"/>
              </a:rPr>
              <a:t>기술</a:t>
            </a:r>
            <a:endParaRPr lang="en-US" sz="3956" b="1" spc="-201" dirty="0">
              <a:solidFill>
                <a:srgbClr val="000000"/>
              </a:solidFill>
              <a:latin typeface="Noto Sans Bold" panose="020B0802040504020204" pitchFamily="34" charset="0"/>
              <a:ea typeface="Noto Sans Bold" panose="020B0802040504020204" pitchFamily="34" charset="0"/>
              <a:cs typeface="Noto Sans Bold" panose="020B0802040504020204" pitchFamily="34" charset="0"/>
              <a:sym typeface="210 국민체조"/>
            </a:endParaRPr>
          </a:p>
        </p:txBody>
      </p:sp>
      <p:sp>
        <p:nvSpPr>
          <p:cNvPr id="59" name="TextBox 30">
            <a:extLst>
              <a:ext uri="{FF2B5EF4-FFF2-40B4-BE49-F238E27FC236}">
                <a16:creationId xmlns:a16="http://schemas.microsoft.com/office/drawing/2014/main" id="{D681F78A-A9BE-08FF-8B40-59D4EB9C8F0C}"/>
              </a:ext>
            </a:extLst>
          </p:cNvPr>
          <p:cNvSpPr txBox="1"/>
          <p:nvPr/>
        </p:nvSpPr>
        <p:spPr>
          <a:xfrm>
            <a:off x="772301" y="6969079"/>
            <a:ext cx="16491395" cy="51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6"/>
              </a:lnSpc>
            </a:pPr>
            <a:r>
              <a:rPr lang="ko-KR" altLang="en-US" sz="2859" b="1" spc="-174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Source Han Sans KR Medium"/>
              </a:rPr>
              <a:t>온</a:t>
            </a:r>
            <a:r>
              <a:rPr lang="en-US" altLang="ko-KR" sz="2859" b="1" spc="-174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Source Han Sans KR Medium"/>
              </a:rPr>
              <a:t>/</a:t>
            </a:r>
            <a:r>
              <a:rPr lang="ko-KR" altLang="en-US" sz="2859" b="1" spc="-174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Source Han Sans KR Medium"/>
              </a:rPr>
              <a:t>오프라인 종합</a:t>
            </a:r>
            <a:r>
              <a:rPr lang="en-US" altLang="ko-KR" sz="2859" b="1" spc="-174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Source Han Sans KR Medium"/>
              </a:rPr>
              <a:t> 스마트 쇼핑몰 플</a:t>
            </a:r>
            <a:r>
              <a:rPr lang="ko-KR" altLang="en-US" sz="2859" b="1" spc="-174">
                <a:solidFill>
                  <a:srgbClr val="000000"/>
                </a:solidFill>
                <a:latin typeface="Noto Sans Bold" panose="020B0802040504020204" pitchFamily="34" charset="0"/>
                <a:ea typeface="Source Han Sans KR Medium"/>
                <a:cs typeface="Noto Sans Bold" panose="020B0802040504020204" pitchFamily="34" charset="0"/>
                <a:sym typeface="Source Han Sans KR Medium"/>
              </a:rPr>
              <a:t>랫</a:t>
            </a:r>
            <a:r>
              <a:rPr lang="en-US" altLang="ko-KR" sz="2859" b="1" spc="-174">
                <a:solidFill>
                  <a:srgbClr val="000000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Source Han Sans KR Medium"/>
              </a:rPr>
              <a:t>폼</a:t>
            </a:r>
            <a:endParaRPr lang="en-US" altLang="ko-KR" sz="2859" b="1" spc="-174" dirty="0">
              <a:solidFill>
                <a:srgbClr val="000000"/>
              </a:solidFill>
              <a:latin typeface="Noto Sans Bold" panose="020B0802040504020204" pitchFamily="34" charset="0"/>
              <a:ea typeface="Noto Sans Bold" panose="020B0802040504020204" pitchFamily="34" charset="0"/>
              <a:cs typeface="Noto Sans Bold" panose="020B0802040504020204" pitchFamily="34" charset="0"/>
              <a:sym typeface="Source Han Sans KR Medium"/>
            </a:endParaRP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EB386247-5C34-D568-FC49-4F759B080B68}"/>
              </a:ext>
            </a:extLst>
          </p:cNvPr>
          <p:cNvSpPr txBox="1"/>
          <p:nvPr/>
        </p:nvSpPr>
        <p:spPr>
          <a:xfrm>
            <a:off x="17830800" y="10004037"/>
            <a:ext cx="651510" cy="282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">
            <a:extLst>
              <a:ext uri="{FF2B5EF4-FFF2-40B4-BE49-F238E27FC236}">
                <a16:creationId xmlns:a16="http://schemas.microsoft.com/office/drawing/2014/main" id="{F66BF328-0A7F-7BED-81A7-00E229B3A0D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7" name="Freeform 3" descr="preencoded.png">
              <a:extLst>
                <a:ext uri="{FF2B5EF4-FFF2-40B4-BE49-F238E27FC236}">
                  <a16:creationId xmlns:a16="http://schemas.microsoft.com/office/drawing/2014/main" id="{1820A958-0A17-7427-3629-BE0C44EF186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8" name="Group 4">
            <a:extLst>
              <a:ext uri="{FF2B5EF4-FFF2-40B4-BE49-F238E27FC236}">
                <a16:creationId xmlns:a16="http://schemas.microsoft.com/office/drawing/2014/main" id="{2856B9FD-A209-E62D-7A33-0690C87A08E9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39" name="Freeform 5" descr="preencoded.png">
              <a:extLst>
                <a:ext uri="{FF2B5EF4-FFF2-40B4-BE49-F238E27FC236}">
                  <a16:creationId xmlns:a16="http://schemas.microsoft.com/office/drawing/2014/main" id="{D44C1118-D8C9-E0B1-B28B-5D2468CD7D67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6">
            <a:extLst>
              <a:ext uri="{FF2B5EF4-FFF2-40B4-BE49-F238E27FC236}">
                <a16:creationId xmlns:a16="http://schemas.microsoft.com/office/drawing/2014/main" id="{4DFC21A0-C2EB-B5A6-8FAB-DB4ADC4392A3}"/>
              </a:ext>
            </a:extLst>
          </p:cNvPr>
          <p:cNvGrpSpPr>
            <a:grpSpLocks noChangeAspect="1"/>
          </p:cNvGrpSpPr>
          <p:nvPr/>
        </p:nvGrpSpPr>
        <p:grpSpPr>
          <a:xfrm>
            <a:off x="914400" y="6943725"/>
            <a:ext cx="514350" cy="514350"/>
            <a:chOff x="0" y="0"/>
            <a:chExt cx="685800" cy="685800"/>
          </a:xfrm>
        </p:grpSpPr>
        <p:sp>
          <p:nvSpPr>
            <p:cNvPr id="41" name="Freeform 7" descr="preencoded.png">
              <a:extLst>
                <a:ext uri="{FF2B5EF4-FFF2-40B4-BE49-F238E27FC236}">
                  <a16:creationId xmlns:a16="http://schemas.microsoft.com/office/drawing/2014/main" id="{DC01AEF1-FE76-4B65-5152-CD54756B6C22}"/>
                </a:ext>
              </a:extLst>
            </p:cNvPr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2" name="TextBox 8">
            <a:extLst>
              <a:ext uri="{FF2B5EF4-FFF2-40B4-BE49-F238E27FC236}">
                <a16:creationId xmlns:a16="http://schemas.microsoft.com/office/drawing/2014/main" id="{EA148C44-A0E9-558A-9661-527A1EED121F}"/>
              </a:ext>
            </a:extLst>
          </p:cNvPr>
          <p:cNvSpPr txBox="1"/>
          <p:nvPr/>
        </p:nvSpPr>
        <p:spPr>
          <a:xfrm>
            <a:off x="685800" y="71437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1" spc="180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목차</a:t>
            </a:r>
            <a:endParaRPr lang="en-US" sz="405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3" name="Freeform 9">
            <a:extLst>
              <a:ext uri="{FF2B5EF4-FFF2-40B4-BE49-F238E27FC236}">
                <a16:creationId xmlns:a16="http://schemas.microsoft.com/office/drawing/2014/main" id="{951F4F31-CB9E-6973-7F46-C254F6073BC6}"/>
              </a:ext>
            </a:extLst>
          </p:cNvPr>
          <p:cNvSpPr/>
          <p:nvPr/>
        </p:nvSpPr>
        <p:spPr>
          <a:xfrm>
            <a:off x="685800" y="2076367"/>
            <a:ext cx="7506961" cy="7410533"/>
          </a:xfrm>
          <a:custGeom>
            <a:avLst/>
            <a:gdLst/>
            <a:ahLst/>
            <a:cxnLst/>
            <a:rect l="l" t="t" r="r" b="b"/>
            <a:pathLst>
              <a:path w="7506961" h="7410533">
                <a:moveTo>
                  <a:pt x="0" y="0"/>
                </a:moveTo>
                <a:lnTo>
                  <a:pt x="7506961" y="0"/>
                </a:lnTo>
                <a:lnTo>
                  <a:pt x="7506961" y="7410533"/>
                </a:lnTo>
                <a:lnTo>
                  <a:pt x="0" y="741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>
            <a:solidFill>
              <a:srgbClr val="D4A85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C97F7592-CDAD-7ADF-C107-9DA37711B906}"/>
              </a:ext>
            </a:extLst>
          </p:cNvPr>
          <p:cNvSpPr txBox="1"/>
          <p:nvPr/>
        </p:nvSpPr>
        <p:spPr>
          <a:xfrm>
            <a:off x="1428750" y="2952472"/>
            <a:ext cx="3792646" cy="52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01. 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작품배경</a:t>
            </a:r>
            <a:endParaRPr lang="en-US" sz="3201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848F498A-D225-70AB-C63C-E1AD5971629D}"/>
              </a:ext>
            </a:extLst>
          </p:cNvPr>
          <p:cNvSpPr/>
          <p:nvPr/>
        </p:nvSpPr>
        <p:spPr>
          <a:xfrm>
            <a:off x="9144000" y="2012689"/>
            <a:ext cx="8315325" cy="7410533"/>
          </a:xfrm>
          <a:custGeom>
            <a:avLst/>
            <a:gdLst/>
            <a:ahLst/>
            <a:cxnLst/>
            <a:rect l="l" t="t" r="r" b="b"/>
            <a:pathLst>
              <a:path w="8315325" h="7410533">
                <a:moveTo>
                  <a:pt x="0" y="0"/>
                </a:moveTo>
                <a:lnTo>
                  <a:pt x="8315325" y="0"/>
                </a:lnTo>
                <a:lnTo>
                  <a:pt x="8315325" y="7410533"/>
                </a:lnTo>
                <a:lnTo>
                  <a:pt x="0" y="7410533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>
            <a:solidFill>
              <a:srgbClr val="D4A85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A8A9C03C-6ED6-7EBC-9F0A-30799A793DC1}"/>
              </a:ext>
            </a:extLst>
          </p:cNvPr>
          <p:cNvSpPr txBox="1"/>
          <p:nvPr/>
        </p:nvSpPr>
        <p:spPr>
          <a:xfrm>
            <a:off x="1428750" y="4694274"/>
            <a:ext cx="3483417" cy="52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02. 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작품주제</a:t>
            </a:r>
            <a:endParaRPr lang="en-US" sz="3201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7EE7ADA5-4DDC-606A-24BB-7F53B86AF1BD}"/>
              </a:ext>
            </a:extLst>
          </p:cNvPr>
          <p:cNvSpPr txBox="1"/>
          <p:nvPr/>
        </p:nvSpPr>
        <p:spPr>
          <a:xfrm>
            <a:off x="1428750" y="6436076"/>
            <a:ext cx="3483417" cy="52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03.  시장추세</a:t>
            </a:r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284FA155-8B2B-5305-8CA5-A1E182ACCC9A}"/>
              </a:ext>
            </a:extLst>
          </p:cNvPr>
          <p:cNvSpPr txBox="1"/>
          <p:nvPr/>
        </p:nvSpPr>
        <p:spPr>
          <a:xfrm>
            <a:off x="1428750" y="8172096"/>
            <a:ext cx="3483417" cy="52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04. 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작품목표</a:t>
            </a:r>
            <a:endParaRPr lang="en-US" sz="3201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F1991A24-1619-3DDA-B63F-3B510C4BE58F}"/>
              </a:ext>
            </a:extLst>
          </p:cNvPr>
          <p:cNvSpPr txBox="1"/>
          <p:nvPr/>
        </p:nvSpPr>
        <p:spPr>
          <a:xfrm>
            <a:off x="9886950" y="2964295"/>
            <a:ext cx="3483417" cy="52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05. 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구현환경</a:t>
            </a:r>
            <a:endParaRPr lang="en-US" sz="3201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0" name="TextBox 16">
            <a:extLst>
              <a:ext uri="{FF2B5EF4-FFF2-40B4-BE49-F238E27FC236}">
                <a16:creationId xmlns:a16="http://schemas.microsoft.com/office/drawing/2014/main" id="{076C47A1-372F-70BE-537B-497411BBF0FA}"/>
              </a:ext>
            </a:extLst>
          </p:cNvPr>
          <p:cNvSpPr txBox="1"/>
          <p:nvPr/>
        </p:nvSpPr>
        <p:spPr>
          <a:xfrm>
            <a:off x="9915525" y="4711496"/>
            <a:ext cx="3483417" cy="52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06. 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기술분석</a:t>
            </a:r>
            <a:endParaRPr lang="en-US" sz="3201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88D54A9D-20E0-79B9-07A4-5972E52525B1}"/>
              </a:ext>
            </a:extLst>
          </p:cNvPr>
          <p:cNvSpPr txBox="1"/>
          <p:nvPr/>
        </p:nvSpPr>
        <p:spPr>
          <a:xfrm>
            <a:off x="9906000" y="6458697"/>
            <a:ext cx="4833717" cy="52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07. 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추진일정</a:t>
            </a: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및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역할분담</a:t>
            </a:r>
            <a:endParaRPr lang="en-US" sz="3201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2" name="TextBox 18">
            <a:extLst>
              <a:ext uri="{FF2B5EF4-FFF2-40B4-BE49-F238E27FC236}">
                <a16:creationId xmlns:a16="http://schemas.microsoft.com/office/drawing/2014/main" id="{604FAC39-BCAD-93F2-75EE-425062558B48}"/>
              </a:ext>
            </a:extLst>
          </p:cNvPr>
          <p:cNvSpPr txBox="1"/>
          <p:nvPr/>
        </p:nvSpPr>
        <p:spPr>
          <a:xfrm>
            <a:off x="9886950" y="8189318"/>
            <a:ext cx="3483417" cy="52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3201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08.  </a:t>
            </a:r>
            <a:r>
              <a:rPr lang="en-US" sz="3201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작품시연</a:t>
            </a:r>
            <a:endParaRPr lang="en-US" sz="3201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5F5BF3DD-8C84-97E8-3EC1-200C7E4F7E46}"/>
              </a:ext>
            </a:extLst>
          </p:cNvPr>
          <p:cNvSpPr txBox="1"/>
          <p:nvPr/>
        </p:nvSpPr>
        <p:spPr>
          <a:xfrm>
            <a:off x="17832515" y="10004070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">
            <a:extLst>
              <a:ext uri="{FF2B5EF4-FFF2-40B4-BE49-F238E27FC236}">
                <a16:creationId xmlns:a16="http://schemas.microsoft.com/office/drawing/2014/main" id="{454EC682-031A-A03B-F01A-880EE5F2759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4286"/>
            <a:ext cx="18288000" cy="10341286"/>
            <a:chOff x="0" y="0"/>
            <a:chExt cx="24384000" cy="13716000"/>
          </a:xfrm>
        </p:grpSpPr>
        <p:sp>
          <p:nvSpPr>
            <p:cNvPr id="26" name="Freeform 3" descr="preencoded.png">
              <a:extLst>
                <a:ext uri="{FF2B5EF4-FFF2-40B4-BE49-F238E27FC236}">
                  <a16:creationId xmlns:a16="http://schemas.microsoft.com/office/drawing/2014/main" id="{105413EB-161C-0032-7304-F1AD94970A4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4">
            <a:extLst>
              <a:ext uri="{FF2B5EF4-FFF2-40B4-BE49-F238E27FC236}">
                <a16:creationId xmlns:a16="http://schemas.microsoft.com/office/drawing/2014/main" id="{7576B0F5-E0B0-CB04-B921-60EE7CC5F4CD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28" name="Freeform 5" descr="preencoded.png">
              <a:extLst>
                <a:ext uri="{FF2B5EF4-FFF2-40B4-BE49-F238E27FC236}">
                  <a16:creationId xmlns:a16="http://schemas.microsoft.com/office/drawing/2014/main" id="{1F1AE020-9BFA-C99A-4DD9-9F46CEDB568A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Freeform 6">
            <a:extLst>
              <a:ext uri="{FF2B5EF4-FFF2-40B4-BE49-F238E27FC236}">
                <a16:creationId xmlns:a16="http://schemas.microsoft.com/office/drawing/2014/main" id="{11F28BAA-5997-F340-FE0B-67F550C38011}"/>
              </a:ext>
            </a:extLst>
          </p:cNvPr>
          <p:cNvSpPr/>
          <p:nvPr/>
        </p:nvSpPr>
        <p:spPr>
          <a:xfrm>
            <a:off x="685800" y="2084842"/>
            <a:ext cx="16649833" cy="7245611"/>
          </a:xfrm>
          <a:custGeom>
            <a:avLst/>
            <a:gdLst/>
            <a:ahLst/>
            <a:cxnLst/>
            <a:rect l="l" t="t" r="r" b="b"/>
            <a:pathLst>
              <a:path w="16649833" h="7245611">
                <a:moveTo>
                  <a:pt x="0" y="0"/>
                </a:moveTo>
                <a:lnTo>
                  <a:pt x="16649833" y="0"/>
                </a:lnTo>
                <a:lnTo>
                  <a:pt x="16649833" y="7245611"/>
                </a:lnTo>
                <a:lnTo>
                  <a:pt x="0" y="7245611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>
            <a:solidFill>
              <a:srgbClr val="D4A853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0" name="Group 7">
            <a:extLst>
              <a:ext uri="{FF2B5EF4-FFF2-40B4-BE49-F238E27FC236}">
                <a16:creationId xmlns:a16="http://schemas.microsoft.com/office/drawing/2014/main" id="{FAC6B9DB-F78D-FCFF-40F7-23FE0FDE3D5B}"/>
              </a:ext>
            </a:extLst>
          </p:cNvPr>
          <p:cNvGrpSpPr/>
          <p:nvPr/>
        </p:nvGrpSpPr>
        <p:grpSpPr>
          <a:xfrm>
            <a:off x="1257300" y="2619285"/>
            <a:ext cx="371460" cy="437498"/>
            <a:chOff x="0" y="0"/>
            <a:chExt cx="495280" cy="583331"/>
          </a:xfrm>
        </p:grpSpPr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420A87DF-B64B-1E66-E922-6C0041F96D13}"/>
                </a:ext>
              </a:extLst>
            </p:cNvPr>
            <p:cNvSpPr/>
            <p:nvPr/>
          </p:nvSpPr>
          <p:spPr>
            <a:xfrm>
              <a:off x="0" y="0"/>
              <a:ext cx="495300" cy="583311"/>
            </a:xfrm>
            <a:custGeom>
              <a:avLst/>
              <a:gdLst/>
              <a:ahLst/>
              <a:cxnLst/>
              <a:rect l="l" t="t" r="r" b="b"/>
              <a:pathLst>
                <a:path w="495300" h="583311">
                  <a:moveTo>
                    <a:pt x="0" y="0"/>
                  </a:moveTo>
                  <a:lnTo>
                    <a:pt x="495300" y="0"/>
                  </a:lnTo>
                  <a:lnTo>
                    <a:pt x="49530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r="3" b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10">
            <a:extLst>
              <a:ext uri="{FF2B5EF4-FFF2-40B4-BE49-F238E27FC236}">
                <a16:creationId xmlns:a16="http://schemas.microsoft.com/office/drawing/2014/main" id="{1E5A37CE-FA33-134D-9CB2-0F2178E114E7}"/>
              </a:ext>
            </a:extLst>
          </p:cNvPr>
          <p:cNvGrpSpPr/>
          <p:nvPr/>
        </p:nvGrpSpPr>
        <p:grpSpPr>
          <a:xfrm>
            <a:off x="1257300" y="3604586"/>
            <a:ext cx="371460" cy="437498"/>
            <a:chOff x="0" y="0"/>
            <a:chExt cx="495280" cy="583331"/>
          </a:xfrm>
        </p:grpSpPr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31CBBC57-606D-7085-A77F-FB956B7AECE0}"/>
                </a:ext>
              </a:extLst>
            </p:cNvPr>
            <p:cNvSpPr/>
            <p:nvPr/>
          </p:nvSpPr>
          <p:spPr>
            <a:xfrm>
              <a:off x="0" y="0"/>
              <a:ext cx="495300" cy="583311"/>
            </a:xfrm>
            <a:custGeom>
              <a:avLst/>
              <a:gdLst/>
              <a:ahLst/>
              <a:cxnLst/>
              <a:rect l="l" t="t" r="r" b="b"/>
              <a:pathLst>
                <a:path w="495300" h="583311">
                  <a:moveTo>
                    <a:pt x="0" y="0"/>
                  </a:moveTo>
                  <a:lnTo>
                    <a:pt x="495300" y="0"/>
                  </a:lnTo>
                  <a:lnTo>
                    <a:pt x="49530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r="3" b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6" name="TextBox 13">
            <a:extLst>
              <a:ext uri="{FF2B5EF4-FFF2-40B4-BE49-F238E27FC236}">
                <a16:creationId xmlns:a16="http://schemas.microsoft.com/office/drawing/2014/main" id="{19368AEE-0A83-B347-F4D0-5656384E7F68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01. </a:t>
            </a:r>
            <a:r>
              <a:rPr lang="en-US" sz="4000" b="1" spc="180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작품배경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3DCDE37-B606-3256-910B-3D401BA12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4436627"/>
            <a:ext cx="4890478" cy="4489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020년 온라인쇼핑 거래액 161조 원…음식료품·가전↑">
            <a:extLst>
              <a:ext uri="{FF2B5EF4-FFF2-40B4-BE49-F238E27FC236}">
                <a16:creationId xmlns:a16="http://schemas.microsoft.com/office/drawing/2014/main" id="{38FC18D6-9A84-5EEC-4CFC-E4C831335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99" y="4460862"/>
            <a:ext cx="7715979" cy="434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9">
            <a:extLst>
              <a:ext uri="{FF2B5EF4-FFF2-40B4-BE49-F238E27FC236}">
                <a16:creationId xmlns:a16="http://schemas.microsoft.com/office/drawing/2014/main" id="{66C70027-9684-EA48-72ED-DDA107E5865A}"/>
              </a:ext>
            </a:extLst>
          </p:cNvPr>
          <p:cNvSpPr txBox="1"/>
          <p:nvPr/>
        </p:nvSpPr>
        <p:spPr>
          <a:xfrm>
            <a:off x="17832515" y="10004070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4/17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F79061D9-6F64-768B-2B08-41BF70E39109}"/>
              </a:ext>
            </a:extLst>
          </p:cNvPr>
          <p:cNvSpPr txBox="1"/>
          <p:nvPr/>
        </p:nvSpPr>
        <p:spPr>
          <a:xfrm>
            <a:off x="3505200" y="8890696"/>
            <a:ext cx="2535149" cy="35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ⓒ</a:t>
            </a:r>
            <a:r>
              <a:rPr lang="ko-KR" altLang="ko-KR" sz="2000" dirty="0" err="1"/>
              <a:t>게티이미지뱅크</a:t>
            </a:r>
            <a:endParaRPr lang="en-US" sz="19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C9547D6D-606E-B4A5-0CAC-A6C6B76A0D10}"/>
              </a:ext>
            </a:extLst>
          </p:cNvPr>
          <p:cNvSpPr txBox="1"/>
          <p:nvPr/>
        </p:nvSpPr>
        <p:spPr>
          <a:xfrm>
            <a:off x="1977308" y="2661212"/>
            <a:ext cx="14727108" cy="3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온라인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쇼핑의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급격한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성장에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따라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오프라인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쇼핑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시장은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지속적으로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축소되고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있습니다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.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C9547D6D-606E-B4A5-0CAC-A6C6B76A0D10}"/>
              </a:ext>
            </a:extLst>
          </p:cNvPr>
          <p:cNvSpPr txBox="1"/>
          <p:nvPr/>
        </p:nvSpPr>
        <p:spPr>
          <a:xfrm>
            <a:off x="1977308" y="3616468"/>
            <a:ext cx="14727108" cy="80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온라인의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편의성과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오프라인의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실물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경험이라는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장점을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결합한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스마트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쇼핑몰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플랫폼을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구축하고자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합니다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.</a:t>
            </a:r>
          </a:p>
          <a:p>
            <a:pPr>
              <a:lnSpc>
                <a:spcPts val="3299"/>
              </a:lnSpc>
            </a:pPr>
            <a:endParaRPr lang="en-US" altLang="ko-KR" sz="2199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5F2240E0-2283-0693-E3F0-9EFA5D1B7A4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3" descr="preencoded.png">
              <a:extLst>
                <a:ext uri="{FF2B5EF4-FFF2-40B4-BE49-F238E27FC236}">
                  <a16:creationId xmlns:a16="http://schemas.microsoft.com/office/drawing/2014/main" id="{91FC970E-18BD-8EE8-65EF-25411B24C06B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Freeform 6">
            <a:extLst>
              <a:ext uri="{FF2B5EF4-FFF2-40B4-BE49-F238E27FC236}">
                <a16:creationId xmlns:a16="http://schemas.microsoft.com/office/drawing/2014/main" id="{8E581FBB-EE99-150B-DA90-0E4909257A06}"/>
              </a:ext>
            </a:extLst>
          </p:cNvPr>
          <p:cNvSpPr/>
          <p:nvPr/>
        </p:nvSpPr>
        <p:spPr>
          <a:xfrm>
            <a:off x="690277" y="1933134"/>
            <a:ext cx="16649833" cy="7245611"/>
          </a:xfrm>
          <a:custGeom>
            <a:avLst/>
            <a:gdLst/>
            <a:ahLst/>
            <a:cxnLst/>
            <a:rect l="l" t="t" r="r" b="b"/>
            <a:pathLst>
              <a:path w="16649833" h="7245611">
                <a:moveTo>
                  <a:pt x="0" y="0"/>
                </a:moveTo>
                <a:lnTo>
                  <a:pt x="16649834" y="0"/>
                </a:lnTo>
                <a:lnTo>
                  <a:pt x="16649834" y="7245611"/>
                </a:lnTo>
                <a:lnTo>
                  <a:pt x="0" y="724561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>
            <a:solidFill>
              <a:srgbClr val="D4A853"/>
            </a:solidFill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952F2E9-141A-A8F8-A391-06C1B4BAC6BC}"/>
              </a:ext>
            </a:extLst>
          </p:cNvPr>
          <p:cNvGrpSpPr/>
          <p:nvPr/>
        </p:nvGrpSpPr>
        <p:grpSpPr>
          <a:xfrm>
            <a:off x="1257300" y="2619285"/>
            <a:ext cx="371460" cy="437498"/>
            <a:chOff x="0" y="0"/>
            <a:chExt cx="495280" cy="583331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7EA9D1B-516E-E222-A923-578F7D391858}"/>
                </a:ext>
              </a:extLst>
            </p:cNvPr>
            <p:cNvSpPr/>
            <p:nvPr/>
          </p:nvSpPr>
          <p:spPr>
            <a:xfrm>
              <a:off x="0" y="0"/>
              <a:ext cx="495300" cy="583311"/>
            </a:xfrm>
            <a:custGeom>
              <a:avLst/>
              <a:gdLst/>
              <a:ahLst/>
              <a:cxnLst/>
              <a:rect l="l" t="t" r="r" b="b"/>
              <a:pathLst>
                <a:path w="495300" h="583311">
                  <a:moveTo>
                    <a:pt x="0" y="0"/>
                  </a:moveTo>
                  <a:lnTo>
                    <a:pt x="495300" y="0"/>
                  </a:lnTo>
                  <a:lnTo>
                    <a:pt x="49530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r="3" b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9">
            <a:extLst>
              <a:ext uri="{FF2B5EF4-FFF2-40B4-BE49-F238E27FC236}">
                <a16:creationId xmlns:a16="http://schemas.microsoft.com/office/drawing/2014/main" id="{F22DECFD-9200-71ED-5141-8872173749B5}"/>
              </a:ext>
            </a:extLst>
          </p:cNvPr>
          <p:cNvGrpSpPr/>
          <p:nvPr/>
        </p:nvGrpSpPr>
        <p:grpSpPr>
          <a:xfrm>
            <a:off x="1257300" y="3690307"/>
            <a:ext cx="371460" cy="437498"/>
            <a:chOff x="0" y="0"/>
            <a:chExt cx="495280" cy="583331"/>
          </a:xfrm>
        </p:grpSpPr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A1F85660-6B9D-DF33-B3F3-86DA7407148D}"/>
                </a:ext>
              </a:extLst>
            </p:cNvPr>
            <p:cNvSpPr/>
            <p:nvPr/>
          </p:nvSpPr>
          <p:spPr>
            <a:xfrm>
              <a:off x="0" y="0"/>
              <a:ext cx="495300" cy="583311"/>
            </a:xfrm>
            <a:custGeom>
              <a:avLst/>
              <a:gdLst/>
              <a:ahLst/>
              <a:cxnLst/>
              <a:rect l="l" t="t" r="r" b="b"/>
              <a:pathLst>
                <a:path w="495300" h="583311">
                  <a:moveTo>
                    <a:pt x="0" y="0"/>
                  </a:moveTo>
                  <a:lnTo>
                    <a:pt x="495300" y="0"/>
                  </a:lnTo>
                  <a:lnTo>
                    <a:pt x="49530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r="3" b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8" name="TextBox 15">
            <a:extLst>
              <a:ext uri="{FF2B5EF4-FFF2-40B4-BE49-F238E27FC236}">
                <a16:creationId xmlns:a16="http://schemas.microsoft.com/office/drawing/2014/main" id="{C9547D6D-606E-B4A5-0CAC-A6C6B76A0D10}"/>
              </a:ext>
            </a:extLst>
          </p:cNvPr>
          <p:cNvSpPr txBox="1"/>
          <p:nvPr/>
        </p:nvSpPr>
        <p:spPr>
          <a:xfrm>
            <a:off x="2224691" y="2361784"/>
            <a:ext cx="14727108" cy="79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"</a:t>
            </a:r>
            <a:r>
              <a:rPr lang="en-US" sz="2199" b="1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마당마켓</a:t>
            </a:r>
            <a:r>
              <a:rPr 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"</a:t>
            </a:r>
            <a:r>
              <a:rPr lang="en-US" sz="2199" dirty="0">
                <a:solidFill>
                  <a:srgbClr val="1F293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199" b="1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플랫</a:t>
            </a:r>
            <a:r>
              <a:rPr lang="ko-KR" alt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폼</a:t>
            </a:r>
            <a:r>
              <a:rPr lang="ko-KR" altLang="en-US" sz="2199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은 단순한 쇼핑의 영역을 넘어 쇼핑몰 내외의 매장 및 협력 업체들과 유기적으로 연계함으로써</a:t>
            </a:r>
            <a:r>
              <a:rPr lang="en-US" altLang="ko-KR" sz="2199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 </a:t>
            </a:r>
            <a:r>
              <a:rPr lang="ko-KR" altLang="en-US" sz="2199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단 하나의 앱으로 모든 서비스를 이용할 수 있는 통합 생태계를 제공합니다</a:t>
            </a:r>
            <a:r>
              <a:rPr lang="en-US" altLang="ko-KR" sz="2199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</a:t>
            </a:r>
            <a:endParaRPr lang="en-US" sz="2199" dirty="0">
              <a:solidFill>
                <a:srgbClr val="1F2937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TextBox 16">
            <a:extLst>
              <a:ext uri="{FF2B5EF4-FFF2-40B4-BE49-F238E27FC236}">
                <a16:creationId xmlns:a16="http://schemas.microsoft.com/office/drawing/2014/main" id="{DAB21FBF-B7F7-727C-ED0D-A77D33A000B6}"/>
              </a:ext>
            </a:extLst>
          </p:cNvPr>
          <p:cNvSpPr txBox="1"/>
          <p:nvPr/>
        </p:nvSpPr>
        <p:spPr>
          <a:xfrm>
            <a:off x="2233646" y="3518531"/>
            <a:ext cx="14718154" cy="122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"</a:t>
            </a:r>
            <a:r>
              <a:rPr lang="en-US" sz="2199" b="1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마당마켓</a:t>
            </a:r>
            <a:r>
              <a:rPr 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" </a:t>
            </a:r>
            <a:r>
              <a:rPr lang="en-US" sz="2199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플랫폼은</a:t>
            </a:r>
            <a:r>
              <a:rPr 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199" b="1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QR코드와</a:t>
            </a:r>
            <a:r>
              <a:rPr 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NFC </a:t>
            </a:r>
            <a:r>
              <a:rPr lang="en-US" sz="2199" b="1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기술</a:t>
            </a:r>
            <a:r>
              <a:rPr lang="en-US" sz="2199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을</a:t>
            </a:r>
            <a:r>
              <a:rPr lang="en-US" sz="2199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활용하여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교통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약자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,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무차량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이용자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,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핸즈프리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쇼핑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희망객들이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보다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편리하게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쇼핑을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즐기고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다양한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액티비티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정보를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접할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수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있도록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199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지원합니다</a:t>
            </a:r>
            <a:r>
              <a:rPr lang="en-US" altLang="ko-KR" sz="2199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.</a:t>
            </a:r>
          </a:p>
          <a:p>
            <a:pPr algn="l">
              <a:lnSpc>
                <a:spcPts val="3299"/>
              </a:lnSpc>
            </a:pPr>
            <a:endParaRPr lang="en-US" sz="2199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</p:txBody>
      </p:sp>
      <p:pic>
        <p:nvPicPr>
          <p:cNvPr id="2050" name="Picture 2" descr="온라인 vs 오프라인? 경쟁하면 같이 망해요">
            <a:extLst>
              <a:ext uri="{FF2B5EF4-FFF2-40B4-BE49-F238E27FC236}">
                <a16:creationId xmlns:a16="http://schemas.microsoft.com/office/drawing/2014/main" id="{58B60FDA-8B58-D9E4-8F82-B20518862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4677519"/>
            <a:ext cx="5724929" cy="381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FC 기술 무선 NFC 결제 아이콘 손 잡고 전화 NFC 결제 개념 휴대폰 벡터로 NFC 결제를 적게 접촉 | 프리미엄 벡터">
            <a:extLst>
              <a:ext uri="{FF2B5EF4-FFF2-40B4-BE49-F238E27FC236}">
                <a16:creationId xmlns:a16="http://schemas.microsoft.com/office/drawing/2014/main" id="{F4EB2127-A0A0-7E82-BC1C-6257957C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894945"/>
            <a:ext cx="3590925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377FD1-2E01-EE26-07AD-7AEB1BC7B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8832" y="5316128"/>
            <a:ext cx="2857500" cy="2857500"/>
          </a:xfrm>
          <a:prstGeom prst="rect">
            <a:avLst/>
          </a:prstGeom>
        </p:spPr>
      </p:pic>
      <p:grpSp>
        <p:nvGrpSpPr>
          <p:cNvPr id="15" name="Group 4">
            <a:extLst>
              <a:ext uri="{FF2B5EF4-FFF2-40B4-BE49-F238E27FC236}">
                <a16:creationId xmlns:a16="http://schemas.microsoft.com/office/drawing/2014/main" id="{B6CD27F9-3A40-37B9-1F64-5DE70098D415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16" name="Freeform 5" descr="preencoded.png">
              <a:extLst>
                <a:ext uri="{FF2B5EF4-FFF2-40B4-BE49-F238E27FC236}">
                  <a16:creationId xmlns:a16="http://schemas.microsoft.com/office/drawing/2014/main" id="{9AE333F2-EA64-FEED-A9E3-73BEACF11B5E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TextBox 13">
            <a:extLst>
              <a:ext uri="{FF2B5EF4-FFF2-40B4-BE49-F238E27FC236}">
                <a16:creationId xmlns:a16="http://schemas.microsoft.com/office/drawing/2014/main" id="{62AB49E8-E4A6-9517-01A3-0AE30AED4516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02. </a:t>
            </a:r>
            <a:r>
              <a:rPr lang="en-US" sz="4000" b="1" spc="180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주제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8D5D6D6B-2D73-5A3C-A56A-EF6BCEEEC668}"/>
              </a:ext>
            </a:extLst>
          </p:cNvPr>
          <p:cNvSpPr txBox="1"/>
          <p:nvPr/>
        </p:nvSpPr>
        <p:spPr>
          <a:xfrm>
            <a:off x="17832515" y="10004070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5/17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3015D7FE-AF77-30C6-69B8-0BFDFA18F6B8}"/>
              </a:ext>
            </a:extLst>
          </p:cNvPr>
          <p:cNvSpPr txBox="1"/>
          <p:nvPr/>
        </p:nvSpPr>
        <p:spPr>
          <a:xfrm>
            <a:off x="11960332" y="8661592"/>
            <a:ext cx="19210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ⓒ</a:t>
            </a:r>
            <a:r>
              <a:rPr lang="ko-KR" altLang="en-US" sz="19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중앙일보</a:t>
            </a:r>
            <a:endParaRPr lang="en-US" sz="19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">
            <a:extLst>
              <a:ext uri="{FF2B5EF4-FFF2-40B4-BE49-F238E27FC236}">
                <a16:creationId xmlns:a16="http://schemas.microsoft.com/office/drawing/2014/main" id="{0770AFE4-CF7D-A70E-D50F-224A29E049D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1" name="Freeform 3" descr="preencoded.png">
              <a:extLst>
                <a:ext uri="{FF2B5EF4-FFF2-40B4-BE49-F238E27FC236}">
                  <a16:creationId xmlns:a16="http://schemas.microsoft.com/office/drawing/2014/main" id="{C0795D8F-FBA4-73A3-8DB4-85A03A75AC2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>
                <a:highlight>
                  <a:srgbClr val="D4A853"/>
                </a:highlight>
              </a:endParaRPr>
            </a:p>
          </p:txBody>
        </p:sp>
      </p:grpSp>
      <p:grpSp>
        <p:nvGrpSpPr>
          <p:cNvPr id="54" name="Group 6">
            <a:extLst>
              <a:ext uri="{FF2B5EF4-FFF2-40B4-BE49-F238E27FC236}">
                <a16:creationId xmlns:a16="http://schemas.microsoft.com/office/drawing/2014/main" id="{4B7D2BF8-C3AD-416D-B800-2751DAE9BFB4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800225"/>
            <a:ext cx="6848400" cy="6858000"/>
            <a:chOff x="0" y="0"/>
            <a:chExt cx="9131200" cy="9144000"/>
          </a:xfrm>
        </p:grpSpPr>
        <p:sp>
          <p:nvSpPr>
            <p:cNvPr id="55" name="Freeform 7" descr="preencoded.png">
              <a:extLst>
                <a:ext uri="{FF2B5EF4-FFF2-40B4-BE49-F238E27FC236}">
                  <a16:creationId xmlns:a16="http://schemas.microsoft.com/office/drawing/2014/main" id="{3547C611-B357-E073-4403-762310093A72}"/>
                </a:ext>
              </a:extLst>
            </p:cNvPr>
            <p:cNvSpPr/>
            <p:nvPr/>
          </p:nvSpPr>
          <p:spPr>
            <a:xfrm>
              <a:off x="0" y="0"/>
              <a:ext cx="9131173" cy="9144000"/>
            </a:xfrm>
            <a:custGeom>
              <a:avLst/>
              <a:gdLst/>
              <a:ahLst/>
              <a:cxnLst/>
              <a:rect l="l" t="t" r="r" b="b"/>
              <a:pathLst>
                <a:path w="9131173" h="9144000">
                  <a:moveTo>
                    <a:pt x="0" y="0"/>
                  </a:moveTo>
                  <a:lnTo>
                    <a:pt x="9131173" y="0"/>
                  </a:lnTo>
                  <a:lnTo>
                    <a:pt x="9131173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6" name="Group 8">
            <a:extLst>
              <a:ext uri="{FF2B5EF4-FFF2-40B4-BE49-F238E27FC236}">
                <a16:creationId xmlns:a16="http://schemas.microsoft.com/office/drawing/2014/main" id="{016109C5-30C3-5F95-0BAC-2310338558CB}"/>
              </a:ext>
            </a:extLst>
          </p:cNvPr>
          <p:cNvGrpSpPr>
            <a:grpSpLocks noChangeAspect="1"/>
          </p:cNvGrpSpPr>
          <p:nvPr/>
        </p:nvGrpSpPr>
        <p:grpSpPr>
          <a:xfrm>
            <a:off x="895350" y="6823374"/>
            <a:ext cx="6429300" cy="1669452"/>
            <a:chOff x="0" y="0"/>
            <a:chExt cx="8216800" cy="2133600"/>
          </a:xfrm>
        </p:grpSpPr>
        <p:sp>
          <p:nvSpPr>
            <p:cNvPr id="57" name="Freeform 9" descr="preencoded.png">
              <a:extLst>
                <a:ext uri="{FF2B5EF4-FFF2-40B4-BE49-F238E27FC236}">
                  <a16:creationId xmlns:a16="http://schemas.microsoft.com/office/drawing/2014/main" id="{849B51C9-D817-C953-87CF-4E05288A1A1D}"/>
                </a:ext>
              </a:extLst>
            </p:cNvPr>
            <p:cNvSpPr/>
            <p:nvPr/>
          </p:nvSpPr>
          <p:spPr>
            <a:xfrm>
              <a:off x="0" y="0"/>
              <a:ext cx="8216773" cy="2133600"/>
            </a:xfrm>
            <a:custGeom>
              <a:avLst/>
              <a:gdLst/>
              <a:ahLst/>
              <a:cxnLst/>
              <a:rect l="l" t="t" r="r" b="b"/>
              <a:pathLst>
                <a:path w="8216773" h="2133600">
                  <a:moveTo>
                    <a:pt x="0" y="0"/>
                  </a:moveTo>
                  <a:lnTo>
                    <a:pt x="8216773" y="0"/>
                  </a:lnTo>
                  <a:lnTo>
                    <a:pt x="8216773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8" name="Group 10">
            <a:extLst>
              <a:ext uri="{FF2B5EF4-FFF2-40B4-BE49-F238E27FC236}">
                <a16:creationId xmlns:a16="http://schemas.microsoft.com/office/drawing/2014/main" id="{389DF25D-13BB-C93E-6C83-90C3E964A8EA}"/>
              </a:ext>
            </a:extLst>
          </p:cNvPr>
          <p:cNvGrpSpPr>
            <a:grpSpLocks noChangeAspect="1"/>
          </p:cNvGrpSpPr>
          <p:nvPr/>
        </p:nvGrpSpPr>
        <p:grpSpPr>
          <a:xfrm>
            <a:off x="1257300" y="7000875"/>
            <a:ext cx="171450" cy="228600"/>
            <a:chOff x="0" y="0"/>
            <a:chExt cx="228600" cy="304800"/>
          </a:xfrm>
        </p:grpSpPr>
        <p:sp>
          <p:nvSpPr>
            <p:cNvPr id="60" name="Freeform 11" descr="preencoded.png">
              <a:extLst>
                <a:ext uri="{FF2B5EF4-FFF2-40B4-BE49-F238E27FC236}">
                  <a16:creationId xmlns:a16="http://schemas.microsoft.com/office/drawing/2014/main" id="{F6C8D3A1-EA7A-3D7C-CECC-CFC13589F4D3}"/>
                </a:ext>
              </a:extLst>
            </p:cNvPr>
            <p:cNvSpPr/>
            <p:nvPr/>
          </p:nvSpPr>
          <p:spPr>
            <a:xfrm>
              <a:off x="0" y="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12">
            <a:extLst>
              <a:ext uri="{FF2B5EF4-FFF2-40B4-BE49-F238E27FC236}">
                <a16:creationId xmlns:a16="http://schemas.microsoft.com/office/drawing/2014/main" id="{06D6BDDE-3BCB-58E8-486F-78B08EE915AC}"/>
              </a:ext>
            </a:extLst>
          </p:cNvPr>
          <p:cNvGrpSpPr>
            <a:grpSpLocks noChangeAspect="1"/>
          </p:cNvGrpSpPr>
          <p:nvPr/>
        </p:nvGrpSpPr>
        <p:grpSpPr>
          <a:xfrm>
            <a:off x="7877100" y="1800225"/>
            <a:ext cx="9724876" cy="6858000"/>
            <a:chOff x="0" y="0"/>
            <a:chExt cx="12966502" cy="9144000"/>
          </a:xfrm>
        </p:grpSpPr>
        <p:sp>
          <p:nvSpPr>
            <p:cNvPr id="62" name="Freeform 13" descr="preencoded.png">
              <a:extLst>
                <a:ext uri="{FF2B5EF4-FFF2-40B4-BE49-F238E27FC236}">
                  <a16:creationId xmlns:a16="http://schemas.microsoft.com/office/drawing/2014/main" id="{1EC77269-D6B4-198C-995E-660A01D37B2D}"/>
                </a:ext>
              </a:extLst>
            </p:cNvPr>
            <p:cNvSpPr/>
            <p:nvPr/>
          </p:nvSpPr>
          <p:spPr>
            <a:xfrm>
              <a:off x="0" y="0"/>
              <a:ext cx="12966446" cy="9144000"/>
            </a:xfrm>
            <a:custGeom>
              <a:avLst/>
              <a:gdLst/>
              <a:ahLst/>
              <a:cxnLst/>
              <a:rect l="l" t="t" r="r" b="b"/>
              <a:pathLst>
                <a:path w="12966446" h="9144000">
                  <a:moveTo>
                    <a:pt x="0" y="0"/>
                  </a:moveTo>
                  <a:lnTo>
                    <a:pt x="12966446" y="0"/>
                  </a:lnTo>
                  <a:lnTo>
                    <a:pt x="1296644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12700">
              <a:solidFill>
                <a:srgbClr val="D4A853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3" name="Group 14">
            <a:extLst>
              <a:ext uri="{FF2B5EF4-FFF2-40B4-BE49-F238E27FC236}">
                <a16:creationId xmlns:a16="http://schemas.microsoft.com/office/drawing/2014/main" id="{DC09C7CD-5FCE-D333-A04A-5311A7AF3600}"/>
              </a:ext>
            </a:extLst>
          </p:cNvPr>
          <p:cNvGrpSpPr>
            <a:grpSpLocks noChangeAspect="1"/>
          </p:cNvGrpSpPr>
          <p:nvPr/>
        </p:nvGrpSpPr>
        <p:grpSpPr>
          <a:xfrm>
            <a:off x="8220000" y="7343775"/>
            <a:ext cx="4405238" cy="971550"/>
            <a:chOff x="0" y="0"/>
            <a:chExt cx="5873650" cy="1295400"/>
          </a:xfrm>
        </p:grpSpPr>
        <p:sp>
          <p:nvSpPr>
            <p:cNvPr id="64" name="Freeform 15" descr="preencoded.png">
              <a:extLst>
                <a:ext uri="{FF2B5EF4-FFF2-40B4-BE49-F238E27FC236}">
                  <a16:creationId xmlns:a16="http://schemas.microsoft.com/office/drawing/2014/main" id="{8CCED1AB-96CA-37F2-8A35-20DDF8E62A45}"/>
                </a:ext>
              </a:extLst>
            </p:cNvPr>
            <p:cNvSpPr/>
            <p:nvPr/>
          </p:nvSpPr>
          <p:spPr>
            <a:xfrm>
              <a:off x="0" y="0"/>
              <a:ext cx="5873623" cy="1295400"/>
            </a:xfrm>
            <a:custGeom>
              <a:avLst/>
              <a:gdLst/>
              <a:ahLst/>
              <a:cxnLst/>
              <a:rect l="l" t="t" r="r" b="b"/>
              <a:pathLst>
                <a:path w="5873623" h="1295400">
                  <a:moveTo>
                    <a:pt x="0" y="0"/>
                  </a:moveTo>
                  <a:lnTo>
                    <a:pt x="5873623" y="0"/>
                  </a:lnTo>
                  <a:lnTo>
                    <a:pt x="5873623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5" name="Group 16">
            <a:extLst>
              <a:ext uri="{FF2B5EF4-FFF2-40B4-BE49-F238E27FC236}">
                <a16:creationId xmlns:a16="http://schemas.microsoft.com/office/drawing/2014/main" id="{DAF64ACD-F336-4F77-964E-879B00B62969}"/>
              </a:ext>
            </a:extLst>
          </p:cNvPr>
          <p:cNvGrpSpPr>
            <a:grpSpLocks noChangeAspect="1"/>
          </p:cNvGrpSpPr>
          <p:nvPr/>
        </p:nvGrpSpPr>
        <p:grpSpPr>
          <a:xfrm>
            <a:off x="8391450" y="7543800"/>
            <a:ext cx="571500" cy="571500"/>
            <a:chOff x="0" y="0"/>
            <a:chExt cx="762000" cy="762000"/>
          </a:xfrm>
        </p:grpSpPr>
        <p:sp>
          <p:nvSpPr>
            <p:cNvPr id="66" name="Freeform 17" descr="preencoded.png">
              <a:extLst>
                <a:ext uri="{FF2B5EF4-FFF2-40B4-BE49-F238E27FC236}">
                  <a16:creationId xmlns:a16="http://schemas.microsoft.com/office/drawing/2014/main" id="{81D6FBB6-4EBF-42E2-CCD7-70F2301CF1DA}"/>
                </a:ext>
              </a:extLst>
            </p:cNvPr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7" name="Group 18">
            <a:extLst>
              <a:ext uri="{FF2B5EF4-FFF2-40B4-BE49-F238E27FC236}">
                <a16:creationId xmlns:a16="http://schemas.microsoft.com/office/drawing/2014/main" id="{E7B25A68-5228-F2C1-7360-FD129F1FC80E}"/>
              </a:ext>
            </a:extLst>
          </p:cNvPr>
          <p:cNvGrpSpPr>
            <a:grpSpLocks noChangeAspect="1"/>
          </p:cNvGrpSpPr>
          <p:nvPr/>
        </p:nvGrpSpPr>
        <p:grpSpPr>
          <a:xfrm>
            <a:off x="8605762" y="7715250"/>
            <a:ext cx="142875" cy="228600"/>
            <a:chOff x="0" y="0"/>
            <a:chExt cx="190500" cy="304800"/>
          </a:xfrm>
        </p:grpSpPr>
        <p:sp>
          <p:nvSpPr>
            <p:cNvPr id="68" name="Freeform 19" descr="preencoded.png">
              <a:extLst>
                <a:ext uri="{FF2B5EF4-FFF2-40B4-BE49-F238E27FC236}">
                  <a16:creationId xmlns:a16="http://schemas.microsoft.com/office/drawing/2014/main" id="{60542C2E-8A7E-7E8A-571B-F31D10FAAA7B}"/>
                </a:ext>
              </a:extLst>
            </p:cNvPr>
            <p:cNvSpPr/>
            <p:nvPr/>
          </p:nvSpPr>
          <p:spPr>
            <a:xfrm>
              <a:off x="0" y="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0" y="0"/>
                  </a:moveTo>
                  <a:lnTo>
                    <a:pt x="190500" y="0"/>
                  </a:lnTo>
                  <a:lnTo>
                    <a:pt x="1905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9" name="Group 20">
            <a:extLst>
              <a:ext uri="{FF2B5EF4-FFF2-40B4-BE49-F238E27FC236}">
                <a16:creationId xmlns:a16="http://schemas.microsoft.com/office/drawing/2014/main" id="{504918AA-15E2-2E3A-8465-A9BB1892F38C}"/>
              </a:ext>
            </a:extLst>
          </p:cNvPr>
          <p:cNvGrpSpPr>
            <a:grpSpLocks noChangeAspect="1"/>
          </p:cNvGrpSpPr>
          <p:nvPr/>
        </p:nvGrpSpPr>
        <p:grpSpPr>
          <a:xfrm>
            <a:off x="12853839" y="7343775"/>
            <a:ext cx="4405238" cy="971550"/>
            <a:chOff x="0" y="0"/>
            <a:chExt cx="5873650" cy="1295400"/>
          </a:xfrm>
        </p:grpSpPr>
        <p:sp>
          <p:nvSpPr>
            <p:cNvPr id="70" name="Freeform 21" descr="preencoded.png">
              <a:extLst>
                <a:ext uri="{FF2B5EF4-FFF2-40B4-BE49-F238E27FC236}">
                  <a16:creationId xmlns:a16="http://schemas.microsoft.com/office/drawing/2014/main" id="{8C5D639A-E1D8-77FD-B3FB-4500A92C8D1F}"/>
                </a:ext>
              </a:extLst>
            </p:cNvPr>
            <p:cNvSpPr/>
            <p:nvPr/>
          </p:nvSpPr>
          <p:spPr>
            <a:xfrm>
              <a:off x="0" y="0"/>
              <a:ext cx="5873623" cy="1295400"/>
            </a:xfrm>
            <a:custGeom>
              <a:avLst/>
              <a:gdLst/>
              <a:ahLst/>
              <a:cxnLst/>
              <a:rect l="l" t="t" r="r" b="b"/>
              <a:pathLst>
                <a:path w="5873623" h="1295400">
                  <a:moveTo>
                    <a:pt x="0" y="0"/>
                  </a:moveTo>
                  <a:lnTo>
                    <a:pt x="5873623" y="0"/>
                  </a:lnTo>
                  <a:lnTo>
                    <a:pt x="5873623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22">
            <a:extLst>
              <a:ext uri="{FF2B5EF4-FFF2-40B4-BE49-F238E27FC236}">
                <a16:creationId xmlns:a16="http://schemas.microsoft.com/office/drawing/2014/main" id="{33B14F2A-5135-61E2-435B-377176E4FCA0}"/>
              </a:ext>
            </a:extLst>
          </p:cNvPr>
          <p:cNvGrpSpPr>
            <a:grpSpLocks noChangeAspect="1"/>
          </p:cNvGrpSpPr>
          <p:nvPr/>
        </p:nvGrpSpPr>
        <p:grpSpPr>
          <a:xfrm>
            <a:off x="13025289" y="7543800"/>
            <a:ext cx="571500" cy="571500"/>
            <a:chOff x="0" y="0"/>
            <a:chExt cx="762000" cy="762000"/>
          </a:xfrm>
        </p:grpSpPr>
        <p:sp>
          <p:nvSpPr>
            <p:cNvPr id="72" name="Freeform 23" descr="preencoded.png">
              <a:extLst>
                <a:ext uri="{FF2B5EF4-FFF2-40B4-BE49-F238E27FC236}">
                  <a16:creationId xmlns:a16="http://schemas.microsoft.com/office/drawing/2014/main" id="{FF951372-14AA-523C-353E-7937EB568007}"/>
                </a:ext>
              </a:extLst>
            </p:cNvPr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24">
            <a:extLst>
              <a:ext uri="{FF2B5EF4-FFF2-40B4-BE49-F238E27FC236}">
                <a16:creationId xmlns:a16="http://schemas.microsoft.com/office/drawing/2014/main" id="{B137A1D1-0894-AF39-657A-0632EC1E716F}"/>
              </a:ext>
            </a:extLst>
          </p:cNvPr>
          <p:cNvGrpSpPr>
            <a:grpSpLocks noChangeAspect="1"/>
          </p:cNvGrpSpPr>
          <p:nvPr/>
        </p:nvGrpSpPr>
        <p:grpSpPr>
          <a:xfrm>
            <a:off x="13218170" y="7715250"/>
            <a:ext cx="185738" cy="228600"/>
            <a:chOff x="0" y="0"/>
            <a:chExt cx="247650" cy="304800"/>
          </a:xfrm>
        </p:grpSpPr>
        <p:sp>
          <p:nvSpPr>
            <p:cNvPr id="74" name="Freeform 25" descr="preencoded.png">
              <a:extLst>
                <a:ext uri="{FF2B5EF4-FFF2-40B4-BE49-F238E27FC236}">
                  <a16:creationId xmlns:a16="http://schemas.microsoft.com/office/drawing/2014/main" id="{C1506BB9-E304-276C-A2CE-5DFCB556BDF9}"/>
                </a:ext>
              </a:extLst>
            </p:cNvPr>
            <p:cNvSpPr/>
            <p:nvPr/>
          </p:nvSpPr>
          <p:spPr>
            <a:xfrm>
              <a:off x="0" y="0"/>
              <a:ext cx="247650" cy="304800"/>
            </a:xfrm>
            <a:custGeom>
              <a:avLst/>
              <a:gdLst/>
              <a:ahLst/>
              <a:cxnLst/>
              <a:rect l="l" t="t" r="r" b="b"/>
              <a:pathLst>
                <a:path w="247650" h="304800">
                  <a:moveTo>
                    <a:pt x="0" y="0"/>
                  </a:moveTo>
                  <a:lnTo>
                    <a:pt x="247650" y="0"/>
                  </a:lnTo>
                  <a:lnTo>
                    <a:pt x="24765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Group 26">
            <a:extLst>
              <a:ext uri="{FF2B5EF4-FFF2-40B4-BE49-F238E27FC236}">
                <a16:creationId xmlns:a16="http://schemas.microsoft.com/office/drawing/2014/main" id="{2CF2C229-6B38-B27D-2F6D-5F48CDD425B3}"/>
              </a:ext>
            </a:extLst>
          </p:cNvPr>
          <p:cNvGrpSpPr/>
          <p:nvPr/>
        </p:nvGrpSpPr>
        <p:grpSpPr>
          <a:xfrm>
            <a:off x="930095" y="2981424"/>
            <a:ext cx="314325" cy="370206"/>
            <a:chOff x="0" y="0"/>
            <a:chExt cx="495280" cy="583331"/>
          </a:xfrm>
        </p:grpSpPr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9D4E7F1F-54CD-815C-BA37-08B47B6C2C56}"/>
                </a:ext>
              </a:extLst>
            </p:cNvPr>
            <p:cNvSpPr/>
            <p:nvPr/>
          </p:nvSpPr>
          <p:spPr>
            <a:xfrm>
              <a:off x="0" y="0"/>
              <a:ext cx="495300" cy="583311"/>
            </a:xfrm>
            <a:custGeom>
              <a:avLst/>
              <a:gdLst/>
              <a:ahLst/>
              <a:cxnLst/>
              <a:rect l="l" t="t" r="r" b="b"/>
              <a:pathLst>
                <a:path w="495300" h="583311">
                  <a:moveTo>
                    <a:pt x="0" y="0"/>
                  </a:moveTo>
                  <a:lnTo>
                    <a:pt x="495300" y="0"/>
                  </a:lnTo>
                  <a:lnTo>
                    <a:pt x="49530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r="3" b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7" name="Group 28">
            <a:extLst>
              <a:ext uri="{FF2B5EF4-FFF2-40B4-BE49-F238E27FC236}">
                <a16:creationId xmlns:a16="http://schemas.microsoft.com/office/drawing/2014/main" id="{25029209-6F67-CBAB-8AB0-134DCDF54822}"/>
              </a:ext>
            </a:extLst>
          </p:cNvPr>
          <p:cNvGrpSpPr/>
          <p:nvPr/>
        </p:nvGrpSpPr>
        <p:grpSpPr>
          <a:xfrm>
            <a:off x="930095" y="4241524"/>
            <a:ext cx="314325" cy="370206"/>
            <a:chOff x="0" y="0"/>
            <a:chExt cx="495280" cy="583331"/>
          </a:xfrm>
        </p:grpSpPr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F2AC6696-7BDD-510E-5D19-CF8F86828B39}"/>
                </a:ext>
              </a:extLst>
            </p:cNvPr>
            <p:cNvSpPr/>
            <p:nvPr/>
          </p:nvSpPr>
          <p:spPr>
            <a:xfrm>
              <a:off x="0" y="0"/>
              <a:ext cx="495300" cy="583311"/>
            </a:xfrm>
            <a:custGeom>
              <a:avLst/>
              <a:gdLst/>
              <a:ahLst/>
              <a:cxnLst/>
              <a:rect l="l" t="t" r="r" b="b"/>
              <a:pathLst>
                <a:path w="495300" h="583311">
                  <a:moveTo>
                    <a:pt x="0" y="0"/>
                  </a:moveTo>
                  <a:lnTo>
                    <a:pt x="495300" y="0"/>
                  </a:lnTo>
                  <a:lnTo>
                    <a:pt x="49530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r="3" b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9" name="Group 30">
            <a:extLst>
              <a:ext uri="{FF2B5EF4-FFF2-40B4-BE49-F238E27FC236}">
                <a16:creationId xmlns:a16="http://schemas.microsoft.com/office/drawing/2014/main" id="{01BEEA3A-0AAE-7DE7-13CB-D7970FE57404}"/>
              </a:ext>
            </a:extLst>
          </p:cNvPr>
          <p:cNvGrpSpPr/>
          <p:nvPr/>
        </p:nvGrpSpPr>
        <p:grpSpPr>
          <a:xfrm>
            <a:off x="930095" y="5501637"/>
            <a:ext cx="314325" cy="370206"/>
            <a:chOff x="0" y="0"/>
            <a:chExt cx="495280" cy="583331"/>
          </a:xfrm>
        </p:grpSpPr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19F73C74-A97F-768B-EDD2-B3162D3D4DBC}"/>
                </a:ext>
              </a:extLst>
            </p:cNvPr>
            <p:cNvSpPr/>
            <p:nvPr/>
          </p:nvSpPr>
          <p:spPr>
            <a:xfrm>
              <a:off x="0" y="0"/>
              <a:ext cx="495300" cy="583311"/>
            </a:xfrm>
            <a:custGeom>
              <a:avLst/>
              <a:gdLst/>
              <a:ahLst/>
              <a:cxnLst/>
              <a:rect l="l" t="t" r="r" b="b"/>
              <a:pathLst>
                <a:path w="495300" h="583311">
                  <a:moveTo>
                    <a:pt x="0" y="0"/>
                  </a:moveTo>
                  <a:lnTo>
                    <a:pt x="495300" y="0"/>
                  </a:lnTo>
                  <a:lnTo>
                    <a:pt x="49530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r="3" b="-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1" name="Freeform 32">
            <a:extLst>
              <a:ext uri="{FF2B5EF4-FFF2-40B4-BE49-F238E27FC236}">
                <a16:creationId xmlns:a16="http://schemas.microsoft.com/office/drawing/2014/main" id="{57B11EFD-F779-AF3C-CF87-E9BA6F7CB96C}"/>
              </a:ext>
            </a:extLst>
          </p:cNvPr>
          <p:cNvSpPr/>
          <p:nvPr/>
        </p:nvSpPr>
        <p:spPr>
          <a:xfrm>
            <a:off x="8618155" y="2745648"/>
            <a:ext cx="8014166" cy="4598127"/>
          </a:xfrm>
          <a:custGeom>
            <a:avLst/>
            <a:gdLst/>
            <a:ahLst/>
            <a:cxnLst/>
            <a:rect l="l" t="t" r="r" b="b"/>
            <a:pathLst>
              <a:path w="8014166" h="4598127">
                <a:moveTo>
                  <a:pt x="0" y="0"/>
                </a:moveTo>
                <a:lnTo>
                  <a:pt x="8014165" y="0"/>
                </a:lnTo>
                <a:lnTo>
                  <a:pt x="8014165" y="4598127"/>
                </a:lnTo>
                <a:lnTo>
                  <a:pt x="0" y="45981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3" name="TextBox 34">
            <a:extLst>
              <a:ext uri="{FF2B5EF4-FFF2-40B4-BE49-F238E27FC236}">
                <a16:creationId xmlns:a16="http://schemas.microsoft.com/office/drawing/2014/main" id="{206FDD21-8F9E-C136-1989-947A3501669E}"/>
              </a:ext>
            </a:extLst>
          </p:cNvPr>
          <p:cNvSpPr txBox="1"/>
          <p:nvPr/>
        </p:nvSpPr>
        <p:spPr>
          <a:xfrm>
            <a:off x="1028700" y="2095500"/>
            <a:ext cx="616260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리테일 환경의 변화</a:t>
            </a:r>
          </a:p>
        </p:txBody>
      </p:sp>
      <p:sp>
        <p:nvSpPr>
          <p:cNvPr id="87" name="TextBox 38">
            <a:extLst>
              <a:ext uri="{FF2B5EF4-FFF2-40B4-BE49-F238E27FC236}">
                <a16:creationId xmlns:a16="http://schemas.microsoft.com/office/drawing/2014/main" id="{6622E1B0-DE6F-50FE-B5DF-CA9A7189CDB8}"/>
              </a:ext>
            </a:extLst>
          </p:cNvPr>
          <p:cNvSpPr txBox="1"/>
          <p:nvPr/>
        </p:nvSpPr>
        <p:spPr>
          <a:xfrm>
            <a:off x="1543050" y="6896100"/>
            <a:ext cx="57054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시장 동향 인사이트</a:t>
            </a:r>
          </a:p>
        </p:txBody>
      </p:sp>
      <p:sp>
        <p:nvSpPr>
          <p:cNvPr id="89" name="TextBox 40">
            <a:extLst>
              <a:ext uri="{FF2B5EF4-FFF2-40B4-BE49-F238E27FC236}">
                <a16:creationId xmlns:a16="http://schemas.microsoft.com/office/drawing/2014/main" id="{89B0B66D-8F41-34BD-7FA6-FFF95BF14CA5}"/>
              </a:ext>
            </a:extLst>
          </p:cNvPr>
          <p:cNvSpPr txBox="1"/>
          <p:nvPr/>
        </p:nvSpPr>
        <p:spPr>
          <a:xfrm>
            <a:off x="8220000" y="2095500"/>
            <a:ext cx="9039076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글로벌</a:t>
            </a:r>
            <a:r>
              <a:rPr lang="en-US" sz="2700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리테일</a:t>
            </a:r>
            <a:r>
              <a:rPr lang="en-US" sz="2700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산업</a:t>
            </a:r>
            <a:r>
              <a:rPr lang="en-US" sz="2700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글로벌</a:t>
            </a:r>
            <a:r>
              <a:rPr lang="en-US" sz="2700" b="1" dirty="0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전망</a:t>
            </a:r>
            <a:endParaRPr lang="en-US" sz="2700" b="1" dirty="0">
              <a:solidFill>
                <a:srgbClr val="37415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1" name="TextBox 42">
            <a:extLst>
              <a:ext uri="{FF2B5EF4-FFF2-40B4-BE49-F238E27FC236}">
                <a16:creationId xmlns:a16="http://schemas.microsoft.com/office/drawing/2014/main" id="{BD40904A-FA4A-056A-4BEC-7E859DD7405B}"/>
              </a:ext>
            </a:extLst>
          </p:cNvPr>
          <p:cNvSpPr txBox="1"/>
          <p:nvPr/>
        </p:nvSpPr>
        <p:spPr>
          <a:xfrm>
            <a:off x="9134400" y="7753350"/>
            <a:ext cx="349081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121조 3,500억 원</a:t>
            </a:r>
          </a:p>
        </p:txBody>
      </p:sp>
      <p:sp>
        <p:nvSpPr>
          <p:cNvPr id="93" name="TextBox 44">
            <a:extLst>
              <a:ext uri="{FF2B5EF4-FFF2-40B4-BE49-F238E27FC236}">
                <a16:creationId xmlns:a16="http://schemas.microsoft.com/office/drawing/2014/main" id="{FFCD8B72-9C29-F4CB-874E-1FFD084E9DC8}"/>
              </a:ext>
            </a:extLst>
          </p:cNvPr>
          <p:cNvSpPr txBox="1"/>
          <p:nvPr/>
        </p:nvSpPr>
        <p:spPr>
          <a:xfrm>
            <a:off x="13768239" y="7753350"/>
            <a:ext cx="349081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33조 2,500억 원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E70AB748-D00B-5C0A-EB54-1AC8C2B91F02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7" name="Freeform 5" descr="preencoded.png">
              <a:extLst>
                <a:ext uri="{FF2B5EF4-FFF2-40B4-BE49-F238E27FC236}">
                  <a16:creationId xmlns:a16="http://schemas.microsoft.com/office/drawing/2014/main" id="{068E9B8D-D76C-75D4-F12F-F671206D5744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13">
            <a:extLst>
              <a:ext uri="{FF2B5EF4-FFF2-40B4-BE49-F238E27FC236}">
                <a16:creationId xmlns:a16="http://schemas.microsoft.com/office/drawing/2014/main" id="{36B4AE0F-E57C-2664-763F-6F0219D97D7C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시장추세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CD54887E-CBD9-7D5B-BC15-77B60A77B55E}"/>
              </a:ext>
            </a:extLst>
          </p:cNvPr>
          <p:cNvSpPr txBox="1"/>
          <p:nvPr/>
        </p:nvSpPr>
        <p:spPr>
          <a:xfrm>
            <a:off x="17832515" y="10004070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6/17</a:t>
            </a:r>
          </a:p>
        </p:txBody>
      </p:sp>
      <p:sp>
        <p:nvSpPr>
          <p:cNvPr id="46" name="TextBox 17"/>
          <p:cNvSpPr txBox="1"/>
          <p:nvPr/>
        </p:nvSpPr>
        <p:spPr>
          <a:xfrm>
            <a:off x="1366573" y="5339804"/>
            <a:ext cx="604546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거주지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인근의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상권과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생활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서비스를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앱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하나로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</a:p>
          <a:p>
            <a:pPr>
              <a:lnSpc>
                <a:spcPts val="2999"/>
              </a:lnSpc>
            </a:pP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연결하는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로컬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커머스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시장이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폭발적으로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성장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중.</a:t>
            </a:r>
          </a:p>
        </p:txBody>
      </p:sp>
      <p:sp>
        <p:nvSpPr>
          <p:cNvPr id="47" name="TextBox 17"/>
          <p:cNvSpPr txBox="1"/>
          <p:nvPr/>
        </p:nvSpPr>
        <p:spPr>
          <a:xfrm>
            <a:off x="1366573" y="4040456"/>
            <a:ext cx="6045466" cy="729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NFC, QR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코드 기반의 </a:t>
            </a:r>
            <a:r>
              <a:rPr lang="ko-KR" altLang="en-US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비접촉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기술이 </a:t>
            </a:r>
            <a:r>
              <a:rPr lang="ko-KR" altLang="en-US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결제뿐만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아니라 정보 탐색과 서비스 연동의 핵심 도구로 부상</a:t>
            </a:r>
            <a:endParaRPr lang="en-US" altLang="ko-KR" sz="2000" b="1" dirty="0">
              <a:solidFill>
                <a:srgbClr val="374151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48" name="TextBox 17"/>
          <p:cNvSpPr txBox="1"/>
          <p:nvPr/>
        </p:nvSpPr>
        <p:spPr>
          <a:xfrm>
            <a:off x="1366573" y="2838782"/>
            <a:ext cx="6045466" cy="729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오프라인의 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'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경험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'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과 온라인의 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'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편의성</a:t>
            </a:r>
            <a:r>
              <a:rPr lang="en-US" altLang="ko-KR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'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이 결합된 </a:t>
            </a:r>
          </a:p>
          <a:p>
            <a:pPr>
              <a:lnSpc>
                <a:spcPts val="2999"/>
              </a:lnSpc>
            </a:pPr>
            <a:r>
              <a:rPr lang="ko-KR" altLang="en-US" sz="2000" b="1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리테일이</a:t>
            </a:r>
            <a:r>
              <a:rPr lang="ko-KR" altLang="en-US" sz="2000" b="1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글로벌 트렌드로  진행 중</a:t>
            </a:r>
            <a:endParaRPr lang="en-US" altLang="ko-KR" sz="2000" b="1" dirty="0">
              <a:solidFill>
                <a:srgbClr val="374151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49" name="TextBox 17"/>
          <p:cNvSpPr txBox="1"/>
          <p:nvPr/>
        </p:nvSpPr>
        <p:spPr>
          <a:xfrm>
            <a:off x="1119647" y="7332677"/>
            <a:ext cx="6045466" cy="1008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단순히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물건을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사는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공간을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넘어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,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기술을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통해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쇼핑의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장벽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(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신체적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제약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,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이동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불편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등)을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허무는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솔루션의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수요가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증대되고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dirty="0" err="1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있습니다</a:t>
            </a:r>
            <a:r>
              <a:rPr lang="en-US" altLang="ko-KR" sz="2000" dirty="0">
                <a:solidFill>
                  <a:srgbClr val="374151"/>
                </a:solidFill>
                <a:latin typeface="+mn-ea"/>
                <a:cs typeface="Noto Sans"/>
                <a:sym typeface="Noto Sans"/>
              </a:rPr>
              <a:t>.</a:t>
            </a:r>
          </a:p>
        </p:txBody>
      </p:sp>
      <p:sp>
        <p:nvSpPr>
          <p:cNvPr id="50" name="TextBox 42">
            <a:extLst>
              <a:ext uri="{FF2B5EF4-FFF2-40B4-BE49-F238E27FC236}">
                <a16:creationId xmlns:a16="http://schemas.microsoft.com/office/drawing/2014/main" id="{BD40904A-FA4A-056A-4BEC-7E859DD7405B}"/>
              </a:ext>
            </a:extLst>
          </p:cNvPr>
          <p:cNvSpPr txBox="1"/>
          <p:nvPr/>
        </p:nvSpPr>
        <p:spPr>
          <a:xfrm>
            <a:off x="9134400" y="7478727"/>
            <a:ext cx="3490818" cy="271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altLang="ko-KR" dirty="0">
                <a:solidFill>
                  <a:srgbClr val="4B5563"/>
                </a:solidFill>
                <a:latin typeface="+mj-ea"/>
                <a:cs typeface="Noto Sans"/>
                <a:sym typeface="Noto Sans"/>
              </a:rPr>
              <a:t>2025년 </a:t>
            </a:r>
            <a:r>
              <a:rPr lang="en-US" altLang="ko-KR" dirty="0" err="1">
                <a:solidFill>
                  <a:srgbClr val="4B5563"/>
                </a:solidFill>
                <a:latin typeface="+mj-ea"/>
                <a:cs typeface="Noto Sans"/>
                <a:sym typeface="Noto Sans"/>
              </a:rPr>
              <a:t>매출</a:t>
            </a:r>
            <a:r>
              <a:rPr lang="en-US" altLang="ko-KR" dirty="0">
                <a:solidFill>
                  <a:srgbClr val="4B5563"/>
                </a:solidFill>
                <a:latin typeface="+mj-ea"/>
                <a:cs typeface="Noto Sans"/>
                <a:sym typeface="Noto Sans"/>
              </a:rPr>
              <a:t> </a:t>
            </a:r>
            <a:r>
              <a:rPr lang="en-US" altLang="ko-KR" dirty="0" err="1">
                <a:solidFill>
                  <a:srgbClr val="4B5563"/>
                </a:solidFill>
                <a:latin typeface="+mj-ea"/>
                <a:cs typeface="Noto Sans"/>
                <a:sym typeface="Noto Sans"/>
              </a:rPr>
              <a:t>규모</a:t>
            </a:r>
            <a:endParaRPr lang="en-US" altLang="ko-KR" dirty="0">
              <a:solidFill>
                <a:srgbClr val="4B5563"/>
              </a:solidFill>
              <a:latin typeface="+mj-ea"/>
              <a:cs typeface="Noto Sans"/>
              <a:sym typeface="Noto Sans"/>
            </a:endParaRPr>
          </a:p>
        </p:txBody>
      </p:sp>
      <p:sp>
        <p:nvSpPr>
          <p:cNvPr id="53" name="TextBox 44">
            <a:extLst>
              <a:ext uri="{FF2B5EF4-FFF2-40B4-BE49-F238E27FC236}">
                <a16:creationId xmlns:a16="http://schemas.microsoft.com/office/drawing/2014/main" id="{FFCD8B72-9C29-F4CB-874E-1FFD084E9DC8}"/>
              </a:ext>
            </a:extLst>
          </p:cNvPr>
          <p:cNvSpPr txBox="1"/>
          <p:nvPr/>
        </p:nvSpPr>
        <p:spPr>
          <a:xfrm>
            <a:off x="13746828" y="7440255"/>
            <a:ext cx="3490818" cy="310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2028 </a:t>
            </a:r>
            <a:r>
              <a:rPr lang="ko-KR" altLang="en-US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예상 매출 규모</a:t>
            </a:r>
            <a:endParaRPr lang="en-US" sz="180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6">
            <a:extLst>
              <a:ext uri="{FF2B5EF4-FFF2-40B4-BE49-F238E27FC236}">
                <a16:creationId xmlns:a16="http://schemas.microsoft.com/office/drawing/2014/main" id="{3DCBD34E-827C-2CF5-BFF2-A5A5D8EC5154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800225"/>
            <a:ext cx="6848400" cy="6858000"/>
            <a:chOff x="0" y="0"/>
            <a:chExt cx="9131200" cy="9144000"/>
          </a:xfrm>
        </p:grpSpPr>
        <p:sp>
          <p:nvSpPr>
            <p:cNvPr id="25" name="Freeform 7" descr="preencoded.png">
              <a:extLst>
                <a:ext uri="{FF2B5EF4-FFF2-40B4-BE49-F238E27FC236}">
                  <a16:creationId xmlns:a16="http://schemas.microsoft.com/office/drawing/2014/main" id="{F8ADD425-8BDD-83B3-CB9F-5E80DB035E0A}"/>
                </a:ext>
              </a:extLst>
            </p:cNvPr>
            <p:cNvSpPr/>
            <p:nvPr/>
          </p:nvSpPr>
          <p:spPr>
            <a:xfrm>
              <a:off x="0" y="0"/>
              <a:ext cx="9131173" cy="9144000"/>
            </a:xfrm>
            <a:custGeom>
              <a:avLst/>
              <a:gdLst/>
              <a:ahLst/>
              <a:cxnLst/>
              <a:rect l="l" t="t" r="r" b="b"/>
              <a:pathLst>
                <a:path w="9131173" h="9144000">
                  <a:moveTo>
                    <a:pt x="0" y="0"/>
                  </a:moveTo>
                  <a:lnTo>
                    <a:pt x="9131173" y="0"/>
                  </a:lnTo>
                  <a:lnTo>
                    <a:pt x="9131173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solidFill>
                <a:srgbClr val="D4A853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Group 8">
            <a:extLst>
              <a:ext uri="{FF2B5EF4-FFF2-40B4-BE49-F238E27FC236}">
                <a16:creationId xmlns:a16="http://schemas.microsoft.com/office/drawing/2014/main" id="{C59334A1-8206-215D-78D2-272FDFDC70E2}"/>
              </a:ext>
            </a:extLst>
          </p:cNvPr>
          <p:cNvGrpSpPr>
            <a:grpSpLocks noChangeAspect="1"/>
          </p:cNvGrpSpPr>
          <p:nvPr/>
        </p:nvGrpSpPr>
        <p:grpSpPr>
          <a:xfrm>
            <a:off x="7877100" y="1800225"/>
            <a:ext cx="9724876" cy="6858000"/>
            <a:chOff x="0" y="0"/>
            <a:chExt cx="12966502" cy="9144000"/>
          </a:xfrm>
        </p:grpSpPr>
        <p:sp>
          <p:nvSpPr>
            <p:cNvPr id="27" name="Freeform 9" descr="preencoded.png">
              <a:extLst>
                <a:ext uri="{FF2B5EF4-FFF2-40B4-BE49-F238E27FC236}">
                  <a16:creationId xmlns:a16="http://schemas.microsoft.com/office/drawing/2014/main" id="{2689D0D8-1729-C314-105E-8066BC3FFDD6}"/>
                </a:ext>
              </a:extLst>
            </p:cNvPr>
            <p:cNvSpPr/>
            <p:nvPr/>
          </p:nvSpPr>
          <p:spPr>
            <a:xfrm>
              <a:off x="0" y="0"/>
              <a:ext cx="12966446" cy="9144000"/>
            </a:xfrm>
            <a:custGeom>
              <a:avLst/>
              <a:gdLst/>
              <a:ahLst/>
              <a:cxnLst/>
              <a:rect l="l" t="t" r="r" b="b"/>
              <a:pathLst>
                <a:path w="12966446" h="9144000">
                  <a:moveTo>
                    <a:pt x="0" y="0"/>
                  </a:moveTo>
                  <a:lnTo>
                    <a:pt x="12966446" y="0"/>
                  </a:lnTo>
                  <a:lnTo>
                    <a:pt x="12966446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solidFill>
                <a:srgbClr val="D4A853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8" name="Freeform 10">
            <a:extLst>
              <a:ext uri="{FF2B5EF4-FFF2-40B4-BE49-F238E27FC236}">
                <a16:creationId xmlns:a16="http://schemas.microsoft.com/office/drawing/2014/main" id="{C489F62F-205F-F19C-61C6-E7F2088010E0}"/>
              </a:ext>
            </a:extLst>
          </p:cNvPr>
          <p:cNvSpPr/>
          <p:nvPr/>
        </p:nvSpPr>
        <p:spPr>
          <a:xfrm>
            <a:off x="8138052" y="2037159"/>
            <a:ext cx="4044615" cy="6356958"/>
          </a:xfrm>
          <a:custGeom>
            <a:avLst/>
            <a:gdLst/>
            <a:ahLst/>
            <a:cxnLst/>
            <a:rect l="l" t="t" r="r" b="b"/>
            <a:pathLst>
              <a:path w="4044615" h="6356958">
                <a:moveTo>
                  <a:pt x="0" y="0"/>
                </a:moveTo>
                <a:lnTo>
                  <a:pt x="4044615" y="0"/>
                </a:lnTo>
                <a:lnTo>
                  <a:pt x="4044615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8E6588B0-682F-ED30-F363-91FC8E90D838}"/>
              </a:ext>
            </a:extLst>
          </p:cNvPr>
          <p:cNvSpPr txBox="1"/>
          <p:nvPr/>
        </p:nvSpPr>
        <p:spPr>
          <a:xfrm>
            <a:off x="1028700" y="5351890"/>
            <a:ext cx="6160861" cy="3657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SSG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앱을 이용한 간편 결제 시스템</a:t>
            </a:r>
            <a:endParaRPr lang="en-US" altLang="ko-KR" sz="2400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  <a:p>
            <a:pPr algn="l">
              <a:lnSpc>
                <a:spcPts val="3599"/>
              </a:lnSpc>
            </a:pPr>
            <a:endParaRPr lang="en-US" altLang="ko-KR" sz="2400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  <a:p>
            <a:pPr algn="ctr">
              <a:lnSpc>
                <a:spcPts val="3599"/>
              </a:lnSpc>
            </a:pP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스타필드는 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SSG 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앱을 통하여</a:t>
            </a:r>
            <a:endParaRPr lang="en-US" sz="2400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  <a:p>
            <a:pPr algn="ctr">
              <a:lnSpc>
                <a:spcPts val="3599"/>
              </a:lnSpc>
            </a:pP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상품 정보 확인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,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실시간</a:t>
            </a:r>
            <a:r>
              <a:rPr lang="en-US" altLang="ko-KR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배송 확인</a:t>
            </a:r>
            <a:endParaRPr lang="en-US" sz="2400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  <a:p>
            <a:pPr algn="ctr">
              <a:lnSpc>
                <a:spcPts val="3599"/>
              </a:lnSpc>
            </a:pP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간편한 장바구니 담기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,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원터치 간편 </a:t>
            </a:r>
            <a:r>
              <a:rPr lang="ko-KR" alt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결제등등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 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터치 한번으로 다양한 기능을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이용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기능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.</a:t>
            </a:r>
          </a:p>
          <a:p>
            <a:pPr algn="l">
              <a:lnSpc>
                <a:spcPts val="3599"/>
              </a:lnSpc>
            </a:pP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3599"/>
              </a:lnSpc>
            </a:pPr>
            <a:endParaRPr lang="en-US" altLang="ko-KR" sz="2400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9106CBC7-1434-2B12-EF96-908A889C12BB}"/>
              </a:ext>
            </a:extLst>
          </p:cNvPr>
          <p:cNvSpPr txBox="1"/>
          <p:nvPr/>
        </p:nvSpPr>
        <p:spPr>
          <a:xfrm>
            <a:off x="12621056" y="3436603"/>
            <a:ext cx="4542489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"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롯데마트는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'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롯데마트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고(GO)'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앱을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통해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고객이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직접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바코드를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스캔하고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모바일로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즉시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결제하는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</a:p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'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스마트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결제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'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서비스를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도입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.</a:t>
            </a:r>
          </a:p>
          <a:p>
            <a:pPr algn="l">
              <a:lnSpc>
                <a:spcPts val="3600"/>
              </a:lnSpc>
            </a:pPr>
            <a:endParaRPr lang="en-US" sz="2400" dirty="0">
              <a:solidFill>
                <a:srgbClr val="1F2937"/>
              </a:solidFill>
              <a:latin typeface="+mn-ea"/>
              <a:cs typeface="Noto Sans"/>
              <a:sym typeface="Noto Sans"/>
            </a:endParaRPr>
          </a:p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기존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계산대의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대기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줄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없이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전용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출구의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QR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인식만으로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쇼핑을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 </a:t>
            </a:r>
          </a:p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마</a:t>
            </a:r>
            <a:r>
              <a:rPr lang="ko-KR" alt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치기 가능</a:t>
            </a:r>
            <a:r>
              <a:rPr lang="en-US" sz="2400" dirty="0">
                <a:solidFill>
                  <a:srgbClr val="1F2937"/>
                </a:solidFill>
                <a:latin typeface="+mn-ea"/>
                <a:cs typeface="Noto Sans"/>
                <a:sym typeface="Noto Sans"/>
              </a:rPr>
              <a:t>."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09EA3264-5F38-4F0E-9A9B-9DA6050EC002}"/>
              </a:ext>
            </a:extLst>
          </p:cNvPr>
          <p:cNvSpPr txBox="1"/>
          <p:nvPr/>
        </p:nvSpPr>
        <p:spPr>
          <a:xfrm>
            <a:off x="5787045" y="8217905"/>
            <a:ext cx="19210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ⓒ</a:t>
            </a:r>
            <a:r>
              <a:rPr lang="en-US" sz="19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스타필드</a:t>
            </a:r>
            <a:endParaRPr lang="en-US" sz="19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4F1B910E-F264-4679-212C-79617EF61FA3}"/>
              </a:ext>
            </a:extLst>
          </p:cNvPr>
          <p:cNvSpPr txBox="1"/>
          <p:nvPr/>
        </p:nvSpPr>
        <p:spPr>
          <a:xfrm>
            <a:off x="15752851" y="8134350"/>
            <a:ext cx="192106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ⓒ</a:t>
            </a:r>
            <a:r>
              <a:rPr lang="en-US" sz="1999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경향신문</a:t>
            </a:r>
            <a:endParaRPr lang="en-US" sz="19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084F31-B486-9267-B7EB-AB03B840D02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1" y="2193832"/>
            <a:ext cx="5823006" cy="3070163"/>
          </a:xfrm>
          <a:prstGeom prst="rect">
            <a:avLst/>
          </a:prstGeom>
        </p:spPr>
      </p:pic>
      <p:sp>
        <p:nvSpPr>
          <p:cNvPr id="3" name="TextBox 19">
            <a:extLst>
              <a:ext uri="{FF2B5EF4-FFF2-40B4-BE49-F238E27FC236}">
                <a16:creationId xmlns:a16="http://schemas.microsoft.com/office/drawing/2014/main" id="{E95EB1E7-98EB-E91B-1FE5-A246202D19B9}"/>
              </a:ext>
            </a:extLst>
          </p:cNvPr>
          <p:cNvSpPr txBox="1"/>
          <p:nvPr/>
        </p:nvSpPr>
        <p:spPr>
          <a:xfrm>
            <a:off x="17830800" y="10004108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7/17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5A26E4E-78B4-C47A-40A5-C27E42B22659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5" name="Freeform 5" descr="preencoded.png">
              <a:extLst>
                <a:ext uri="{FF2B5EF4-FFF2-40B4-BE49-F238E27FC236}">
                  <a16:creationId xmlns:a16="http://schemas.microsoft.com/office/drawing/2014/main" id="{41C91821-371D-4B17-2FA5-2673A15362E9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TextBox 13">
            <a:extLst>
              <a:ext uri="{FF2B5EF4-FFF2-40B4-BE49-F238E27FC236}">
                <a16:creationId xmlns:a16="http://schemas.microsoft.com/office/drawing/2014/main" id="{DD461722-E25B-C925-40AC-C351F3536FD4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시장추세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53228" y="1642500"/>
            <a:ext cx="8467725" cy="6560915"/>
            <a:chOff x="0" y="0"/>
            <a:chExt cx="11290300" cy="84557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90300" cy="8455787"/>
            </a:xfrm>
            <a:custGeom>
              <a:avLst/>
              <a:gdLst/>
              <a:ahLst/>
              <a:cxnLst/>
              <a:rect l="l" t="t" r="r" b="b"/>
              <a:pathLst>
                <a:path w="11290300" h="8455787">
                  <a:moveTo>
                    <a:pt x="0" y="0"/>
                  </a:moveTo>
                  <a:lnTo>
                    <a:pt x="11290300" y="0"/>
                  </a:lnTo>
                  <a:lnTo>
                    <a:pt x="11290300" y="8455787"/>
                  </a:lnTo>
                  <a:lnTo>
                    <a:pt x="0" y="84557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2786" y="3981610"/>
            <a:ext cx="447675" cy="3505200"/>
            <a:chOff x="0" y="0"/>
            <a:chExt cx="596900" cy="4673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4673600"/>
            </a:xfrm>
            <a:custGeom>
              <a:avLst/>
              <a:gdLst/>
              <a:ahLst/>
              <a:cxnLst/>
              <a:rect l="l" t="t" r="r" b="b"/>
              <a:pathLst>
                <a:path w="596900" h="4673600">
                  <a:moveTo>
                    <a:pt x="0" y="0"/>
                  </a:moveTo>
                  <a:lnTo>
                    <a:pt x="596900" y="0"/>
                  </a:lnTo>
                  <a:lnTo>
                    <a:pt x="596900" y="4673600"/>
                  </a:lnTo>
                  <a:lnTo>
                    <a:pt x="0" y="467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>
                <a:solidFill>
                  <a:srgbClr val="D4A853"/>
                </a:solidFill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37161" y="1642501"/>
            <a:ext cx="8458200" cy="6560887"/>
            <a:chOff x="0" y="0"/>
            <a:chExt cx="11277600" cy="8747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77600" cy="8747887"/>
            </a:xfrm>
            <a:custGeom>
              <a:avLst/>
              <a:gdLst/>
              <a:ahLst/>
              <a:cxnLst/>
              <a:rect l="l" t="t" r="r" b="b"/>
              <a:pathLst>
                <a:path w="11277600" h="8747887">
                  <a:moveTo>
                    <a:pt x="0" y="0"/>
                  </a:moveTo>
                  <a:lnTo>
                    <a:pt x="11277600" y="0"/>
                  </a:lnTo>
                  <a:lnTo>
                    <a:pt x="11277600" y="8747887"/>
                  </a:lnTo>
                  <a:lnTo>
                    <a:pt x="0" y="87478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35667" y="3981610"/>
            <a:ext cx="447675" cy="3505200"/>
            <a:chOff x="0" y="0"/>
            <a:chExt cx="596900" cy="4673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" cy="4673600"/>
            </a:xfrm>
            <a:custGeom>
              <a:avLst/>
              <a:gdLst/>
              <a:ahLst/>
              <a:cxnLst/>
              <a:rect l="l" t="t" r="r" b="b"/>
              <a:pathLst>
                <a:path w="596900" h="4673600">
                  <a:moveTo>
                    <a:pt x="0" y="0"/>
                  </a:moveTo>
                  <a:lnTo>
                    <a:pt x="596900" y="0"/>
                  </a:lnTo>
                  <a:lnTo>
                    <a:pt x="596900" y="4673600"/>
                  </a:lnTo>
                  <a:lnTo>
                    <a:pt x="0" y="467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00018" y="3942823"/>
            <a:ext cx="730456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NFC/QR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기반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지능형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스마트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리테일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플랫폼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구축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00019" y="4996145"/>
            <a:ext cx="730456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실시간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상품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정보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연동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및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원스톱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장바구니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시스템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00019" y="7040697"/>
            <a:ext cx="7304568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온.오프라인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통합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라이프스타일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경험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제공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00018" y="6008232"/>
            <a:ext cx="7304567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짐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없는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쇼핑을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위한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‘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핸즈프리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’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물류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서비스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440675" y="4979717"/>
            <a:ext cx="7161523" cy="446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몸이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불편한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소비자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440674" y="6008232"/>
            <a:ext cx="7154685" cy="446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개인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차량이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없는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소비자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440674" y="7040697"/>
            <a:ext cx="7161524" cy="446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다양한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액티바티를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즐기고자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하는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소비자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440675" y="3951202"/>
            <a:ext cx="7154685" cy="446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짐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없이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가볍고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편리한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쇼핑을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원하는</a:t>
            </a:r>
            <a:r>
              <a:rPr lang="en-US" sz="2400" b="1" dirty="0"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2400" b="1" dirty="0" err="1">
                <a:latin typeface="Nanum Gothic Bold"/>
                <a:ea typeface="Nanum Gothic Bold"/>
                <a:cs typeface="Nanum Gothic Bold"/>
                <a:sym typeface="Nanum Gothic Bold"/>
              </a:rPr>
              <a:t>소비자</a:t>
            </a:r>
            <a:endParaRPr lang="en-US" sz="2400" b="1" dirty="0"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6AC3E6-B003-BDF6-EBD5-06015AA5FE7C}"/>
              </a:ext>
            </a:extLst>
          </p:cNvPr>
          <p:cNvSpPr/>
          <p:nvPr/>
        </p:nvSpPr>
        <p:spPr>
          <a:xfrm>
            <a:off x="446389" y="1628809"/>
            <a:ext cx="8458200" cy="1875140"/>
          </a:xfrm>
          <a:prstGeom prst="rect">
            <a:avLst/>
          </a:prstGeom>
          <a:solidFill>
            <a:srgbClr val="D4A853"/>
          </a:solidFill>
          <a:ln>
            <a:solidFill>
              <a:srgbClr val="D4A8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2231AB-B3BB-6E06-E4D0-D9AB7F98A2A0}"/>
              </a:ext>
            </a:extLst>
          </p:cNvPr>
          <p:cNvSpPr/>
          <p:nvPr/>
        </p:nvSpPr>
        <p:spPr>
          <a:xfrm>
            <a:off x="9144000" y="1668367"/>
            <a:ext cx="8451360" cy="1875140"/>
          </a:xfrm>
          <a:prstGeom prst="rect">
            <a:avLst/>
          </a:prstGeom>
          <a:solidFill>
            <a:srgbClr val="D4A853"/>
          </a:solidFill>
          <a:ln>
            <a:solidFill>
              <a:srgbClr val="D4A85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1932786" y="2221583"/>
            <a:ext cx="2880627" cy="68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94"/>
              </a:lnSpc>
            </a:pPr>
            <a:r>
              <a:rPr lang="en-US" sz="4000" b="1" dirty="0" err="1">
                <a:solidFill>
                  <a:srgbClr val="1B1B1B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대상</a:t>
            </a:r>
            <a:r>
              <a:rPr lang="en-US" sz="4000" b="1" dirty="0">
                <a:solidFill>
                  <a:srgbClr val="1B1B1B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 </a:t>
            </a:r>
            <a:r>
              <a:rPr lang="en-US" sz="4000" b="1" dirty="0" err="1">
                <a:solidFill>
                  <a:srgbClr val="1B1B1B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사용자</a:t>
            </a:r>
            <a:endParaRPr lang="en-US" sz="4000" b="1" dirty="0">
              <a:solidFill>
                <a:srgbClr val="1B1B1B"/>
              </a:solidFill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896438" y="2288002"/>
            <a:ext cx="1558102" cy="635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95"/>
              </a:lnSpc>
            </a:pPr>
            <a:r>
              <a:rPr lang="en-US" sz="4000" b="1" dirty="0" err="1">
                <a:solidFill>
                  <a:srgbClr val="1B1B1B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목표</a:t>
            </a:r>
            <a:endParaRPr lang="en-US" sz="4000" b="1" dirty="0">
              <a:solidFill>
                <a:srgbClr val="1B1B1B"/>
              </a:solidFill>
              <a:latin typeface="Nanum Gothic Bold"/>
              <a:ea typeface="Nanum Gothic Bold"/>
              <a:cs typeface="Nanum Gothic Bold"/>
              <a:sym typeface="Nanum Gothic Bold"/>
            </a:endParaRP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48CD075D-4BAC-F112-22F0-BF485CAD4CAD}"/>
              </a:ext>
            </a:extLst>
          </p:cNvPr>
          <p:cNvSpPr txBox="1"/>
          <p:nvPr/>
        </p:nvSpPr>
        <p:spPr>
          <a:xfrm>
            <a:off x="17830800" y="10004108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8/17</a:t>
            </a:r>
          </a:p>
        </p:txBody>
      </p:sp>
      <p:grpSp>
        <p:nvGrpSpPr>
          <p:cNvPr id="28" name="Group 4">
            <a:extLst>
              <a:ext uri="{FF2B5EF4-FFF2-40B4-BE49-F238E27FC236}">
                <a16:creationId xmlns:a16="http://schemas.microsoft.com/office/drawing/2014/main" id="{278104E3-9997-F32F-697B-2E76F0817FF1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29" name="Freeform 5" descr="preencoded.png">
              <a:extLst>
                <a:ext uri="{FF2B5EF4-FFF2-40B4-BE49-F238E27FC236}">
                  <a16:creationId xmlns:a16="http://schemas.microsoft.com/office/drawing/2014/main" id="{A5FAF3BF-DF89-C62E-3495-1BDCF8F993D9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0" name="TextBox 13">
            <a:extLst>
              <a:ext uri="{FF2B5EF4-FFF2-40B4-BE49-F238E27FC236}">
                <a16:creationId xmlns:a16="http://schemas.microsoft.com/office/drawing/2014/main" id="{623A0665-7795-44DE-B7AA-D33CF4F27CB1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작품목표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">
            <a:extLst>
              <a:ext uri="{FF2B5EF4-FFF2-40B4-BE49-F238E27FC236}">
                <a16:creationId xmlns:a16="http://schemas.microsoft.com/office/drawing/2014/main" id="{03B2DF41-DC5F-208E-65FB-25D70FFF1923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1685925"/>
            <a:ext cx="8285967" cy="4114800"/>
            <a:chOff x="0" y="0"/>
            <a:chExt cx="11201400" cy="5562600"/>
          </a:xfrm>
        </p:grpSpPr>
        <p:sp>
          <p:nvSpPr>
            <p:cNvPr id="75" name="Freeform 8" descr="preencoded.png">
              <a:extLst>
                <a:ext uri="{FF2B5EF4-FFF2-40B4-BE49-F238E27FC236}">
                  <a16:creationId xmlns:a16="http://schemas.microsoft.com/office/drawing/2014/main" id="{338EB9AF-97EB-C853-DAE9-D8D54E6A7B2B}"/>
                </a:ext>
              </a:extLst>
            </p:cNvPr>
            <p:cNvSpPr/>
            <p:nvPr/>
          </p:nvSpPr>
          <p:spPr>
            <a:xfrm>
              <a:off x="0" y="0"/>
              <a:ext cx="11201400" cy="5562600"/>
            </a:xfrm>
            <a:custGeom>
              <a:avLst/>
              <a:gdLst/>
              <a:ahLst/>
              <a:cxnLst/>
              <a:rect l="l" t="t" r="r" b="b"/>
              <a:pathLst>
                <a:path w="11201400" h="5562600">
                  <a:moveTo>
                    <a:pt x="0" y="0"/>
                  </a:moveTo>
                  <a:lnTo>
                    <a:pt x="11201400" y="0"/>
                  </a:lnTo>
                  <a:lnTo>
                    <a:pt x="11201400" y="5562600"/>
                  </a:lnTo>
                  <a:lnTo>
                    <a:pt x="0" y="556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solidFill>
                <a:srgbClr val="D4A853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6" name="Group 9">
            <a:extLst>
              <a:ext uri="{FF2B5EF4-FFF2-40B4-BE49-F238E27FC236}">
                <a16:creationId xmlns:a16="http://schemas.microsoft.com/office/drawing/2014/main" id="{18ED3006-BEEE-45F2-2180-366770F6ADFA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1685925"/>
            <a:ext cx="8285967" cy="732773"/>
            <a:chOff x="0" y="0"/>
            <a:chExt cx="11201400" cy="990600"/>
          </a:xfrm>
          <a:solidFill>
            <a:srgbClr val="D4A853"/>
          </a:solidFill>
        </p:grpSpPr>
        <p:sp>
          <p:nvSpPr>
            <p:cNvPr id="77" name="Freeform 10" descr="preencoded.png">
              <a:extLst>
                <a:ext uri="{FF2B5EF4-FFF2-40B4-BE49-F238E27FC236}">
                  <a16:creationId xmlns:a16="http://schemas.microsoft.com/office/drawing/2014/main" id="{00F9F4C0-B25C-C3FC-FABD-4D465F79AD82}"/>
                </a:ext>
              </a:extLst>
            </p:cNvPr>
            <p:cNvSpPr/>
            <p:nvPr/>
          </p:nvSpPr>
          <p:spPr>
            <a:xfrm>
              <a:off x="0" y="0"/>
              <a:ext cx="11201400" cy="990600"/>
            </a:xfrm>
            <a:custGeom>
              <a:avLst/>
              <a:gdLst/>
              <a:ahLst/>
              <a:cxnLst/>
              <a:rect l="l" t="t" r="r" b="b"/>
              <a:pathLst>
                <a:path w="11201400" h="990600">
                  <a:moveTo>
                    <a:pt x="0" y="0"/>
                  </a:moveTo>
                  <a:lnTo>
                    <a:pt x="11201400" y="0"/>
                  </a:lnTo>
                  <a:lnTo>
                    <a:pt x="112014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 dirty="0">
                <a:solidFill>
                  <a:srgbClr val="D4A853"/>
                </a:solidFill>
                <a:highlight>
                  <a:srgbClr val="D4A853"/>
                </a:highlight>
              </a:endParaRPr>
            </a:p>
          </p:txBody>
        </p:sp>
      </p:grpSp>
      <p:grpSp>
        <p:nvGrpSpPr>
          <p:cNvPr id="78" name="Group 11">
            <a:extLst>
              <a:ext uri="{FF2B5EF4-FFF2-40B4-BE49-F238E27FC236}">
                <a16:creationId xmlns:a16="http://schemas.microsoft.com/office/drawing/2014/main" id="{A2E6A4BD-6229-5622-FC6C-61048F83316E}"/>
              </a:ext>
            </a:extLst>
          </p:cNvPr>
          <p:cNvGrpSpPr>
            <a:grpSpLocks noChangeAspect="1"/>
          </p:cNvGrpSpPr>
          <p:nvPr/>
        </p:nvGrpSpPr>
        <p:grpSpPr>
          <a:xfrm>
            <a:off x="800100" y="1914525"/>
            <a:ext cx="285750" cy="285750"/>
            <a:chOff x="0" y="0"/>
            <a:chExt cx="381000" cy="381000"/>
          </a:xfrm>
        </p:grpSpPr>
        <p:sp>
          <p:nvSpPr>
            <p:cNvPr id="79" name="Freeform 12" descr="preencoded.png">
              <a:extLst>
                <a:ext uri="{FF2B5EF4-FFF2-40B4-BE49-F238E27FC236}">
                  <a16:creationId xmlns:a16="http://schemas.microsoft.com/office/drawing/2014/main" id="{8A9167D1-E265-2522-F4AB-017DE674BB71}"/>
                </a:ext>
              </a:extLst>
            </p:cNvPr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0" name="Group 13">
            <a:extLst>
              <a:ext uri="{FF2B5EF4-FFF2-40B4-BE49-F238E27FC236}">
                <a16:creationId xmlns:a16="http://schemas.microsoft.com/office/drawing/2014/main" id="{8C3D55BD-AEB8-A473-5A41-E1810D19A974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2428875"/>
            <a:ext cx="8401050" cy="571500"/>
            <a:chOff x="0" y="0"/>
            <a:chExt cx="11201400" cy="762000"/>
          </a:xfrm>
        </p:grpSpPr>
        <p:sp>
          <p:nvSpPr>
            <p:cNvPr id="81" name="Freeform 14" descr="preencoded.png">
              <a:extLst>
                <a:ext uri="{FF2B5EF4-FFF2-40B4-BE49-F238E27FC236}">
                  <a16:creationId xmlns:a16="http://schemas.microsoft.com/office/drawing/2014/main" id="{6457CD7F-0CA1-A750-A30F-72A8503C194B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4" name="Group 17">
            <a:extLst>
              <a:ext uri="{FF2B5EF4-FFF2-40B4-BE49-F238E27FC236}">
                <a16:creationId xmlns:a16="http://schemas.microsoft.com/office/drawing/2014/main" id="{03EBF700-D44B-B483-D255-E580C5DFBBD0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3000375"/>
            <a:ext cx="8401050" cy="571500"/>
            <a:chOff x="0" y="0"/>
            <a:chExt cx="11201400" cy="762000"/>
          </a:xfrm>
        </p:grpSpPr>
        <p:sp>
          <p:nvSpPr>
            <p:cNvPr id="85" name="Freeform 18" descr="preencoded.png">
              <a:extLst>
                <a:ext uri="{FF2B5EF4-FFF2-40B4-BE49-F238E27FC236}">
                  <a16:creationId xmlns:a16="http://schemas.microsoft.com/office/drawing/2014/main" id="{F718A327-C924-E080-1D43-69495DB77F03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0" name="TextBox 23">
            <a:extLst>
              <a:ext uri="{FF2B5EF4-FFF2-40B4-BE49-F238E27FC236}">
                <a16:creationId xmlns:a16="http://schemas.microsoft.com/office/drawing/2014/main" id="{AB2604A7-5323-69E5-DEC7-C3A3996FE0D7}"/>
              </a:ext>
            </a:extLst>
          </p:cNvPr>
          <p:cNvSpPr txBox="1"/>
          <p:nvPr/>
        </p:nvSpPr>
        <p:spPr>
          <a:xfrm>
            <a:off x="1200150" y="1809750"/>
            <a:ext cx="7943850" cy="43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공통 기능</a:t>
            </a:r>
          </a:p>
        </p:txBody>
      </p:sp>
      <p:grpSp>
        <p:nvGrpSpPr>
          <p:cNvPr id="94" name="Group 27">
            <a:extLst>
              <a:ext uri="{FF2B5EF4-FFF2-40B4-BE49-F238E27FC236}">
                <a16:creationId xmlns:a16="http://schemas.microsoft.com/office/drawing/2014/main" id="{4C10E2C9-619E-5C1A-C28B-50DE39732674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1685925"/>
            <a:ext cx="8285967" cy="4114800"/>
            <a:chOff x="0" y="0"/>
            <a:chExt cx="11201400" cy="5562600"/>
          </a:xfrm>
        </p:grpSpPr>
        <p:sp>
          <p:nvSpPr>
            <p:cNvPr id="95" name="Freeform 28" descr="preencoded.png">
              <a:extLst>
                <a:ext uri="{FF2B5EF4-FFF2-40B4-BE49-F238E27FC236}">
                  <a16:creationId xmlns:a16="http://schemas.microsoft.com/office/drawing/2014/main" id="{5DA7DA1D-7AD5-071D-6C1B-8C538FC2B25F}"/>
                </a:ext>
              </a:extLst>
            </p:cNvPr>
            <p:cNvSpPr/>
            <p:nvPr/>
          </p:nvSpPr>
          <p:spPr>
            <a:xfrm>
              <a:off x="0" y="0"/>
              <a:ext cx="11201400" cy="5562600"/>
            </a:xfrm>
            <a:custGeom>
              <a:avLst/>
              <a:gdLst/>
              <a:ahLst/>
              <a:cxnLst/>
              <a:rect l="l" t="t" r="r" b="b"/>
              <a:pathLst>
                <a:path w="11201400" h="5562600">
                  <a:moveTo>
                    <a:pt x="0" y="0"/>
                  </a:moveTo>
                  <a:lnTo>
                    <a:pt x="11201400" y="0"/>
                  </a:lnTo>
                  <a:lnTo>
                    <a:pt x="11201400" y="5562600"/>
                  </a:lnTo>
                  <a:lnTo>
                    <a:pt x="0" y="556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solidFill>
                <a:srgbClr val="D4A853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6" name="Group 29">
            <a:extLst>
              <a:ext uri="{FF2B5EF4-FFF2-40B4-BE49-F238E27FC236}">
                <a16:creationId xmlns:a16="http://schemas.microsoft.com/office/drawing/2014/main" id="{82C7A2F7-5A60-C5A9-9DDB-D6BDD26218CD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1685925"/>
            <a:ext cx="8285967" cy="732773"/>
            <a:chOff x="0" y="0"/>
            <a:chExt cx="11201400" cy="990600"/>
          </a:xfrm>
          <a:solidFill>
            <a:srgbClr val="D4A853"/>
          </a:solidFill>
        </p:grpSpPr>
        <p:sp>
          <p:nvSpPr>
            <p:cNvPr id="97" name="Freeform 30" descr="preencoded.png">
              <a:extLst>
                <a:ext uri="{FF2B5EF4-FFF2-40B4-BE49-F238E27FC236}">
                  <a16:creationId xmlns:a16="http://schemas.microsoft.com/office/drawing/2014/main" id="{F5EC6A06-F85F-E42E-EFEF-62FDCA0C16D1}"/>
                </a:ext>
              </a:extLst>
            </p:cNvPr>
            <p:cNvSpPr/>
            <p:nvPr/>
          </p:nvSpPr>
          <p:spPr>
            <a:xfrm>
              <a:off x="0" y="0"/>
              <a:ext cx="11201400" cy="990600"/>
            </a:xfrm>
            <a:custGeom>
              <a:avLst/>
              <a:gdLst/>
              <a:ahLst/>
              <a:cxnLst/>
              <a:rect l="l" t="t" r="r" b="b"/>
              <a:pathLst>
                <a:path w="11201400" h="990600">
                  <a:moveTo>
                    <a:pt x="0" y="0"/>
                  </a:moveTo>
                  <a:lnTo>
                    <a:pt x="11201400" y="0"/>
                  </a:lnTo>
                  <a:lnTo>
                    <a:pt x="112014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8" name="Group 31">
            <a:extLst>
              <a:ext uri="{FF2B5EF4-FFF2-40B4-BE49-F238E27FC236}">
                <a16:creationId xmlns:a16="http://schemas.microsoft.com/office/drawing/2014/main" id="{5C0D9876-8DDF-516A-55A4-3EE0D9C6198C}"/>
              </a:ext>
            </a:extLst>
          </p:cNvPr>
          <p:cNvGrpSpPr>
            <a:grpSpLocks noChangeAspect="1"/>
          </p:cNvGrpSpPr>
          <p:nvPr/>
        </p:nvGrpSpPr>
        <p:grpSpPr>
          <a:xfrm>
            <a:off x="9544050" y="1914525"/>
            <a:ext cx="285750" cy="285750"/>
            <a:chOff x="0" y="0"/>
            <a:chExt cx="381000" cy="381000"/>
          </a:xfrm>
        </p:grpSpPr>
        <p:sp>
          <p:nvSpPr>
            <p:cNvPr id="99" name="Freeform 32" descr="preencoded.png">
              <a:extLst>
                <a:ext uri="{FF2B5EF4-FFF2-40B4-BE49-F238E27FC236}">
                  <a16:creationId xmlns:a16="http://schemas.microsoft.com/office/drawing/2014/main" id="{5F574953-C35B-32FA-0AC9-B539F07416E6}"/>
                </a:ext>
              </a:extLst>
            </p:cNvPr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0" name="Group 33">
            <a:extLst>
              <a:ext uri="{FF2B5EF4-FFF2-40B4-BE49-F238E27FC236}">
                <a16:creationId xmlns:a16="http://schemas.microsoft.com/office/drawing/2014/main" id="{BD4F26D2-16E8-98EE-86FD-9D68987FDF2E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2428875"/>
            <a:ext cx="8401050" cy="571500"/>
            <a:chOff x="0" y="0"/>
            <a:chExt cx="11201400" cy="762000"/>
          </a:xfrm>
        </p:grpSpPr>
        <p:sp>
          <p:nvSpPr>
            <p:cNvPr id="101" name="Freeform 34" descr="preencoded.png">
              <a:extLst>
                <a:ext uri="{FF2B5EF4-FFF2-40B4-BE49-F238E27FC236}">
                  <a16:creationId xmlns:a16="http://schemas.microsoft.com/office/drawing/2014/main" id="{9556F91C-4CB3-BA0D-4D88-A40468812DA5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4" name="Group 37">
            <a:extLst>
              <a:ext uri="{FF2B5EF4-FFF2-40B4-BE49-F238E27FC236}">
                <a16:creationId xmlns:a16="http://schemas.microsoft.com/office/drawing/2014/main" id="{EEC10BA7-E491-7D71-4641-68DC3F827BB6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3000375"/>
            <a:ext cx="8401050" cy="571500"/>
            <a:chOff x="0" y="0"/>
            <a:chExt cx="11201400" cy="762000"/>
          </a:xfrm>
        </p:grpSpPr>
        <p:sp>
          <p:nvSpPr>
            <p:cNvPr id="105" name="Freeform 38" descr="preencoded.png">
              <a:extLst>
                <a:ext uri="{FF2B5EF4-FFF2-40B4-BE49-F238E27FC236}">
                  <a16:creationId xmlns:a16="http://schemas.microsoft.com/office/drawing/2014/main" id="{245B5FE7-2AA6-7D6C-4B3A-88CF716C0105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2" name="Group 45">
            <a:extLst>
              <a:ext uri="{FF2B5EF4-FFF2-40B4-BE49-F238E27FC236}">
                <a16:creationId xmlns:a16="http://schemas.microsoft.com/office/drawing/2014/main" id="{F9C94CC8-E6BB-706A-2F5A-1EC895328C72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4143375"/>
            <a:ext cx="8401050" cy="571500"/>
            <a:chOff x="0" y="0"/>
            <a:chExt cx="11201400" cy="762000"/>
          </a:xfrm>
        </p:grpSpPr>
        <p:sp>
          <p:nvSpPr>
            <p:cNvPr id="113" name="Freeform 46" descr="preencoded.png">
              <a:extLst>
                <a:ext uri="{FF2B5EF4-FFF2-40B4-BE49-F238E27FC236}">
                  <a16:creationId xmlns:a16="http://schemas.microsoft.com/office/drawing/2014/main" id="{E32A8FEE-FD5F-35D2-3DA1-B11B326BA78F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6" name="Group 49">
            <a:extLst>
              <a:ext uri="{FF2B5EF4-FFF2-40B4-BE49-F238E27FC236}">
                <a16:creationId xmlns:a16="http://schemas.microsoft.com/office/drawing/2014/main" id="{4AE15A76-4AF3-5ADD-E293-B758D2478C5B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4714875"/>
            <a:ext cx="8401050" cy="571500"/>
            <a:chOff x="0" y="0"/>
            <a:chExt cx="11201400" cy="762000"/>
          </a:xfrm>
        </p:grpSpPr>
        <p:sp>
          <p:nvSpPr>
            <p:cNvPr id="117" name="Freeform 50" descr="preencoded.png">
              <a:extLst>
                <a:ext uri="{FF2B5EF4-FFF2-40B4-BE49-F238E27FC236}">
                  <a16:creationId xmlns:a16="http://schemas.microsoft.com/office/drawing/2014/main" id="{A189F4A7-5D74-E947-B3E9-C88D3260D7FF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8" name="TextBox 51">
            <a:extLst>
              <a:ext uri="{FF2B5EF4-FFF2-40B4-BE49-F238E27FC236}">
                <a16:creationId xmlns:a16="http://schemas.microsoft.com/office/drawing/2014/main" id="{7DD26A8E-BC49-CED5-0599-B18DFA70BF8F}"/>
              </a:ext>
            </a:extLst>
          </p:cNvPr>
          <p:cNvSpPr txBox="1"/>
          <p:nvPr/>
        </p:nvSpPr>
        <p:spPr>
          <a:xfrm>
            <a:off x="9944100" y="1809750"/>
            <a:ext cx="794385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매장 관리 기능</a:t>
            </a:r>
          </a:p>
        </p:txBody>
      </p:sp>
      <p:sp>
        <p:nvSpPr>
          <p:cNvPr id="122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36752" y="4257063"/>
            <a:ext cx="7571590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ko-KR" altLang="en-US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이벤트 및 쿠폰 설정</a:t>
            </a:r>
            <a:endParaRPr lang="en-US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grpSp>
        <p:nvGrpSpPr>
          <p:cNvPr id="123" name="Group 56">
            <a:extLst>
              <a:ext uri="{FF2B5EF4-FFF2-40B4-BE49-F238E27FC236}">
                <a16:creationId xmlns:a16="http://schemas.microsoft.com/office/drawing/2014/main" id="{92A45804-5200-6F04-50DA-ECFACCB01978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5943600"/>
            <a:ext cx="8285967" cy="4114800"/>
            <a:chOff x="0" y="0"/>
            <a:chExt cx="11201400" cy="5562600"/>
          </a:xfrm>
        </p:grpSpPr>
        <p:sp>
          <p:nvSpPr>
            <p:cNvPr id="124" name="Freeform 57" descr="preencoded.png">
              <a:extLst>
                <a:ext uri="{FF2B5EF4-FFF2-40B4-BE49-F238E27FC236}">
                  <a16:creationId xmlns:a16="http://schemas.microsoft.com/office/drawing/2014/main" id="{4869098C-46A6-9D19-4573-C2704A9DF92E}"/>
                </a:ext>
              </a:extLst>
            </p:cNvPr>
            <p:cNvSpPr/>
            <p:nvPr/>
          </p:nvSpPr>
          <p:spPr>
            <a:xfrm>
              <a:off x="0" y="0"/>
              <a:ext cx="11201400" cy="5562600"/>
            </a:xfrm>
            <a:custGeom>
              <a:avLst/>
              <a:gdLst/>
              <a:ahLst/>
              <a:cxnLst/>
              <a:rect l="l" t="t" r="r" b="b"/>
              <a:pathLst>
                <a:path w="11201400" h="5562600">
                  <a:moveTo>
                    <a:pt x="0" y="0"/>
                  </a:moveTo>
                  <a:lnTo>
                    <a:pt x="11201400" y="0"/>
                  </a:lnTo>
                  <a:lnTo>
                    <a:pt x="11201400" y="5562600"/>
                  </a:lnTo>
                  <a:lnTo>
                    <a:pt x="0" y="556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solidFill>
                <a:srgbClr val="D4A853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25" name="Group 58">
            <a:extLst>
              <a:ext uri="{FF2B5EF4-FFF2-40B4-BE49-F238E27FC236}">
                <a16:creationId xmlns:a16="http://schemas.microsoft.com/office/drawing/2014/main" id="{EDEA6AEF-9395-1ACA-2132-08624CD2D3DA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5943600"/>
            <a:ext cx="8285967" cy="732773"/>
            <a:chOff x="0" y="0"/>
            <a:chExt cx="11201400" cy="990600"/>
          </a:xfrm>
        </p:grpSpPr>
        <p:sp>
          <p:nvSpPr>
            <p:cNvPr id="126" name="Freeform 59" descr="preencoded.png">
              <a:extLst>
                <a:ext uri="{FF2B5EF4-FFF2-40B4-BE49-F238E27FC236}">
                  <a16:creationId xmlns:a16="http://schemas.microsoft.com/office/drawing/2014/main" id="{F8B8B33E-0B55-8252-2504-244FA269FD5B}"/>
                </a:ext>
              </a:extLst>
            </p:cNvPr>
            <p:cNvSpPr/>
            <p:nvPr/>
          </p:nvSpPr>
          <p:spPr>
            <a:xfrm>
              <a:off x="0" y="0"/>
              <a:ext cx="11201400" cy="990600"/>
            </a:xfrm>
            <a:custGeom>
              <a:avLst/>
              <a:gdLst/>
              <a:ahLst/>
              <a:cxnLst/>
              <a:rect l="l" t="t" r="r" b="b"/>
              <a:pathLst>
                <a:path w="11201400" h="990600">
                  <a:moveTo>
                    <a:pt x="0" y="0"/>
                  </a:moveTo>
                  <a:lnTo>
                    <a:pt x="11201400" y="0"/>
                  </a:lnTo>
                  <a:lnTo>
                    <a:pt x="112014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A853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27" name="Group 60">
            <a:extLst>
              <a:ext uri="{FF2B5EF4-FFF2-40B4-BE49-F238E27FC236}">
                <a16:creationId xmlns:a16="http://schemas.microsoft.com/office/drawing/2014/main" id="{2E077C43-0044-6F9A-FD0F-E97D066FA1D8}"/>
              </a:ext>
            </a:extLst>
          </p:cNvPr>
          <p:cNvGrpSpPr>
            <a:grpSpLocks noChangeAspect="1"/>
          </p:cNvGrpSpPr>
          <p:nvPr/>
        </p:nvGrpSpPr>
        <p:grpSpPr>
          <a:xfrm>
            <a:off x="800100" y="6172200"/>
            <a:ext cx="285750" cy="285750"/>
            <a:chOff x="0" y="0"/>
            <a:chExt cx="381000" cy="381000"/>
          </a:xfrm>
        </p:grpSpPr>
        <p:sp>
          <p:nvSpPr>
            <p:cNvPr id="128" name="Freeform 61" descr="preencoded.png">
              <a:extLst>
                <a:ext uri="{FF2B5EF4-FFF2-40B4-BE49-F238E27FC236}">
                  <a16:creationId xmlns:a16="http://schemas.microsoft.com/office/drawing/2014/main" id="{9C45A018-658E-D126-5232-A428495703E5}"/>
                </a:ext>
              </a:extLst>
            </p:cNvPr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1" name="Group 64">
            <a:extLst>
              <a:ext uri="{FF2B5EF4-FFF2-40B4-BE49-F238E27FC236}">
                <a16:creationId xmlns:a16="http://schemas.microsoft.com/office/drawing/2014/main" id="{BDC2B67F-C0B7-D0FE-D654-25A000CA6AC5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7258050"/>
            <a:ext cx="8401050" cy="571500"/>
            <a:chOff x="0" y="0"/>
            <a:chExt cx="11201400" cy="762000"/>
          </a:xfrm>
        </p:grpSpPr>
        <p:sp>
          <p:nvSpPr>
            <p:cNvPr id="132" name="Freeform 65" descr="preencoded.png">
              <a:extLst>
                <a:ext uri="{FF2B5EF4-FFF2-40B4-BE49-F238E27FC236}">
                  <a16:creationId xmlns:a16="http://schemas.microsoft.com/office/drawing/2014/main" id="{BB31AAB6-F378-DE5C-568F-993500C219D3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37" name="TextBox 70">
            <a:extLst>
              <a:ext uri="{FF2B5EF4-FFF2-40B4-BE49-F238E27FC236}">
                <a16:creationId xmlns:a16="http://schemas.microsoft.com/office/drawing/2014/main" id="{C8083D07-205B-1E7E-BA61-7EF05E530C87}"/>
              </a:ext>
            </a:extLst>
          </p:cNvPr>
          <p:cNvSpPr txBox="1"/>
          <p:nvPr/>
        </p:nvSpPr>
        <p:spPr>
          <a:xfrm>
            <a:off x="1200150" y="6067425"/>
            <a:ext cx="794385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고객 기능</a:t>
            </a:r>
          </a:p>
        </p:txBody>
      </p:sp>
      <p:grpSp>
        <p:nvGrpSpPr>
          <p:cNvPr id="141" name="Group 74">
            <a:extLst>
              <a:ext uri="{FF2B5EF4-FFF2-40B4-BE49-F238E27FC236}">
                <a16:creationId xmlns:a16="http://schemas.microsoft.com/office/drawing/2014/main" id="{C9F5BB8F-B77C-454C-145E-FFDBAF7CB50B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5943600"/>
            <a:ext cx="8285967" cy="4114800"/>
            <a:chOff x="0" y="0"/>
            <a:chExt cx="11201400" cy="5562600"/>
          </a:xfrm>
        </p:grpSpPr>
        <p:sp>
          <p:nvSpPr>
            <p:cNvPr id="142" name="Freeform 75" descr="preencoded.png">
              <a:extLst>
                <a:ext uri="{FF2B5EF4-FFF2-40B4-BE49-F238E27FC236}">
                  <a16:creationId xmlns:a16="http://schemas.microsoft.com/office/drawing/2014/main" id="{A00E0213-DBE4-A971-A8B5-781704050867}"/>
                </a:ext>
              </a:extLst>
            </p:cNvPr>
            <p:cNvSpPr/>
            <p:nvPr/>
          </p:nvSpPr>
          <p:spPr>
            <a:xfrm>
              <a:off x="0" y="0"/>
              <a:ext cx="11201400" cy="5562600"/>
            </a:xfrm>
            <a:custGeom>
              <a:avLst/>
              <a:gdLst/>
              <a:ahLst/>
              <a:cxnLst/>
              <a:rect l="l" t="t" r="r" b="b"/>
              <a:pathLst>
                <a:path w="11201400" h="5562600">
                  <a:moveTo>
                    <a:pt x="0" y="0"/>
                  </a:moveTo>
                  <a:lnTo>
                    <a:pt x="11201400" y="0"/>
                  </a:lnTo>
                  <a:lnTo>
                    <a:pt x="11201400" y="5562600"/>
                  </a:lnTo>
                  <a:lnTo>
                    <a:pt x="0" y="556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solidFill>
                <a:srgbClr val="D4A853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3" name="Group 76">
            <a:extLst>
              <a:ext uri="{FF2B5EF4-FFF2-40B4-BE49-F238E27FC236}">
                <a16:creationId xmlns:a16="http://schemas.microsoft.com/office/drawing/2014/main" id="{46A08A10-248F-8685-6101-C852C03BEEA6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5943600"/>
            <a:ext cx="8285967" cy="732773"/>
            <a:chOff x="0" y="0"/>
            <a:chExt cx="11201400" cy="990600"/>
          </a:xfrm>
          <a:solidFill>
            <a:srgbClr val="D4A853"/>
          </a:solidFill>
        </p:grpSpPr>
        <p:sp>
          <p:nvSpPr>
            <p:cNvPr id="144" name="Freeform 77" descr="preencoded.png">
              <a:extLst>
                <a:ext uri="{FF2B5EF4-FFF2-40B4-BE49-F238E27FC236}">
                  <a16:creationId xmlns:a16="http://schemas.microsoft.com/office/drawing/2014/main" id="{2738BC2A-C319-8163-95EE-208106F0D6E3}"/>
                </a:ext>
              </a:extLst>
            </p:cNvPr>
            <p:cNvSpPr/>
            <p:nvPr/>
          </p:nvSpPr>
          <p:spPr>
            <a:xfrm>
              <a:off x="0" y="0"/>
              <a:ext cx="11201400" cy="990600"/>
            </a:xfrm>
            <a:custGeom>
              <a:avLst/>
              <a:gdLst/>
              <a:ahLst/>
              <a:cxnLst/>
              <a:rect l="l" t="t" r="r" b="b"/>
              <a:pathLst>
                <a:path w="11201400" h="990600">
                  <a:moveTo>
                    <a:pt x="0" y="0"/>
                  </a:moveTo>
                  <a:lnTo>
                    <a:pt x="11201400" y="0"/>
                  </a:lnTo>
                  <a:lnTo>
                    <a:pt x="112014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5" name="Group 78">
            <a:extLst>
              <a:ext uri="{FF2B5EF4-FFF2-40B4-BE49-F238E27FC236}">
                <a16:creationId xmlns:a16="http://schemas.microsoft.com/office/drawing/2014/main" id="{3EBAD9BD-9198-F9D2-CA8B-B2C2B5BE493E}"/>
              </a:ext>
            </a:extLst>
          </p:cNvPr>
          <p:cNvGrpSpPr>
            <a:grpSpLocks noChangeAspect="1"/>
          </p:cNvGrpSpPr>
          <p:nvPr/>
        </p:nvGrpSpPr>
        <p:grpSpPr>
          <a:xfrm>
            <a:off x="9544050" y="6172200"/>
            <a:ext cx="285750" cy="285750"/>
            <a:chOff x="0" y="0"/>
            <a:chExt cx="381000" cy="381000"/>
          </a:xfrm>
        </p:grpSpPr>
        <p:sp>
          <p:nvSpPr>
            <p:cNvPr id="146" name="Freeform 79" descr="preencoded.png">
              <a:extLst>
                <a:ext uri="{FF2B5EF4-FFF2-40B4-BE49-F238E27FC236}">
                  <a16:creationId xmlns:a16="http://schemas.microsoft.com/office/drawing/2014/main" id="{6BF64C69-EA8F-534F-4295-CA9AE58E3E7B}"/>
                </a:ext>
              </a:extLst>
            </p:cNvPr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7" name="Group 80">
            <a:extLst>
              <a:ext uri="{FF2B5EF4-FFF2-40B4-BE49-F238E27FC236}">
                <a16:creationId xmlns:a16="http://schemas.microsoft.com/office/drawing/2014/main" id="{71EEA992-7F36-3FB5-175E-E9D96AD9D36D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6686550"/>
            <a:ext cx="8401050" cy="571500"/>
            <a:chOff x="0" y="0"/>
            <a:chExt cx="11201400" cy="762000"/>
          </a:xfrm>
        </p:grpSpPr>
        <p:sp>
          <p:nvSpPr>
            <p:cNvPr id="148" name="Freeform 81" descr="preencoded.png">
              <a:extLst>
                <a:ext uri="{FF2B5EF4-FFF2-40B4-BE49-F238E27FC236}">
                  <a16:creationId xmlns:a16="http://schemas.microsoft.com/office/drawing/2014/main" id="{9A94A5CA-E69B-F0B2-72D1-AF5C2080D443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1" name="Group 84">
            <a:extLst>
              <a:ext uri="{FF2B5EF4-FFF2-40B4-BE49-F238E27FC236}">
                <a16:creationId xmlns:a16="http://schemas.microsoft.com/office/drawing/2014/main" id="{07C5B923-5670-2019-99B1-81CC83AEEA27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7258050"/>
            <a:ext cx="8401050" cy="571500"/>
            <a:chOff x="0" y="0"/>
            <a:chExt cx="11201400" cy="762000"/>
          </a:xfrm>
        </p:grpSpPr>
        <p:sp>
          <p:nvSpPr>
            <p:cNvPr id="152" name="Freeform 85" descr="preencoded.png">
              <a:extLst>
                <a:ext uri="{FF2B5EF4-FFF2-40B4-BE49-F238E27FC236}">
                  <a16:creationId xmlns:a16="http://schemas.microsoft.com/office/drawing/2014/main" id="{A7D89402-EEAB-8DA6-D2C0-3CF3C192A304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5" name="Group 88">
            <a:extLst>
              <a:ext uri="{FF2B5EF4-FFF2-40B4-BE49-F238E27FC236}">
                <a16:creationId xmlns:a16="http://schemas.microsoft.com/office/drawing/2014/main" id="{A9907697-82CC-2230-4DDA-024B39D68317}"/>
              </a:ext>
            </a:extLst>
          </p:cNvPr>
          <p:cNvGrpSpPr>
            <a:grpSpLocks noChangeAspect="1"/>
          </p:cNvGrpSpPr>
          <p:nvPr/>
        </p:nvGrpSpPr>
        <p:grpSpPr>
          <a:xfrm>
            <a:off x="9315450" y="7829550"/>
            <a:ext cx="8401050" cy="571500"/>
            <a:chOff x="0" y="0"/>
            <a:chExt cx="11201400" cy="762000"/>
          </a:xfrm>
        </p:grpSpPr>
        <p:sp>
          <p:nvSpPr>
            <p:cNvPr id="156" name="Freeform 89" descr="preencoded.png">
              <a:extLst>
                <a:ext uri="{FF2B5EF4-FFF2-40B4-BE49-F238E27FC236}">
                  <a16:creationId xmlns:a16="http://schemas.microsoft.com/office/drawing/2014/main" id="{336FA314-AF9C-7B11-04C9-3F29C61E475D}"/>
                </a:ext>
              </a:extLst>
            </p:cNvPr>
            <p:cNvSpPr/>
            <p:nvPr/>
          </p:nvSpPr>
          <p:spPr>
            <a:xfrm>
              <a:off x="0" y="0"/>
              <a:ext cx="11201400" cy="762000"/>
            </a:xfrm>
            <a:custGeom>
              <a:avLst/>
              <a:gdLst/>
              <a:ahLst/>
              <a:cxnLst/>
              <a:rect l="l" t="t" r="r" b="b"/>
              <a:pathLst>
                <a:path w="11201400" h="762000">
                  <a:moveTo>
                    <a:pt x="0" y="0"/>
                  </a:moveTo>
                  <a:lnTo>
                    <a:pt x="11201400" y="0"/>
                  </a:lnTo>
                  <a:lnTo>
                    <a:pt x="112014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1" name="TextBox 94">
            <a:extLst>
              <a:ext uri="{FF2B5EF4-FFF2-40B4-BE49-F238E27FC236}">
                <a16:creationId xmlns:a16="http://schemas.microsoft.com/office/drawing/2014/main" id="{D169F079-7264-5EA4-DC14-3643DAFCCB76}"/>
              </a:ext>
            </a:extLst>
          </p:cNvPr>
          <p:cNvSpPr txBox="1"/>
          <p:nvPr/>
        </p:nvSpPr>
        <p:spPr>
          <a:xfrm>
            <a:off x="9944100" y="6067425"/>
            <a:ext cx="7943850" cy="43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관리자 기능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6B2BD70-DADE-FA57-CD37-3CFAC759254E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3" name="Freeform 5" descr="preencoded.png">
              <a:extLst>
                <a:ext uri="{FF2B5EF4-FFF2-40B4-BE49-F238E27FC236}">
                  <a16:creationId xmlns:a16="http://schemas.microsoft.com/office/drawing/2014/main" id="{B17814F1-D9A6-6F1C-918C-3080BCD05A8E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13">
            <a:extLst>
              <a:ext uri="{FF2B5EF4-FFF2-40B4-BE49-F238E27FC236}">
                <a16:creationId xmlns:a16="http://schemas.microsoft.com/office/drawing/2014/main" id="{762CC9BF-3895-9A49-C74D-5BAB21A6EA1B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작품목표 </a:t>
            </a:r>
            <a:r>
              <a:rPr lang="en-US" altLang="ko-KR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핵심 기능 목록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583EF7B8-F40F-A22E-BF33-2E2E6727F549}"/>
              </a:ext>
            </a:extLst>
          </p:cNvPr>
          <p:cNvSpPr txBox="1"/>
          <p:nvPr/>
        </p:nvSpPr>
        <p:spPr>
          <a:xfrm>
            <a:off x="17830800" y="10004108"/>
            <a:ext cx="65151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b="1" dirty="0">
                <a:solidFill>
                  <a:srgbClr val="666666"/>
                </a:solidFill>
                <a:latin typeface="+mn-ea"/>
                <a:cs typeface="Noto Sans"/>
                <a:sym typeface="Noto Sans"/>
              </a:rPr>
              <a:t>9/17</a:t>
            </a:r>
          </a:p>
        </p:txBody>
      </p:sp>
      <p:sp>
        <p:nvSpPr>
          <p:cNvPr id="166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29825" y="3669220"/>
            <a:ext cx="7571590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ko-KR" altLang="en-US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실시간 주문 확인</a:t>
            </a:r>
            <a:endParaRPr lang="en-US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91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29825" y="3119437"/>
            <a:ext cx="7571591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NFC/QR </a:t>
            </a:r>
            <a:r>
              <a:rPr lang="ko-KR" altLang="en-US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매핑 시스템</a:t>
            </a:r>
            <a:endParaRPr lang="en-US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20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36752" y="2564178"/>
            <a:ext cx="757851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ko-KR" altLang="en-US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상품 및 재고 관리</a:t>
            </a:r>
            <a:endParaRPr lang="en-US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77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29825" y="6800718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유저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및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권한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(Role)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관리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78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29825" y="7368817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거래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및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정산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관리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89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46318" y="7976709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협력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업체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API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관리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92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0029825" y="8530473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배너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및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공지사항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관리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98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228725" y="6813676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NFC/QR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스마트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스캔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199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228725" y="7381775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스마트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장바구니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200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245218" y="7989667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핸즈프리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배송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선택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201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228725" y="8543431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결제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내역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(Payment History)</a:t>
            </a:r>
          </a:p>
        </p:txBody>
      </p:sp>
      <p:sp>
        <p:nvSpPr>
          <p:cNvPr id="206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228725" y="9072857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지역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연계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액티비티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sp>
        <p:nvSpPr>
          <p:cNvPr id="207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162462" y="3625613"/>
            <a:ext cx="7571590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반응형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모바일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UI (PC/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모바일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/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태블릿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지원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)</a:t>
            </a:r>
          </a:p>
        </p:txBody>
      </p:sp>
      <p:sp>
        <p:nvSpPr>
          <p:cNvPr id="208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162462" y="3075830"/>
            <a:ext cx="7571591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보안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결제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수단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관리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(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이메일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인증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or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보안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질문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)</a:t>
            </a:r>
          </a:p>
        </p:txBody>
      </p:sp>
      <p:sp>
        <p:nvSpPr>
          <p:cNvPr id="209" name="TextBox 55">
            <a:extLst>
              <a:ext uri="{FF2B5EF4-FFF2-40B4-BE49-F238E27FC236}">
                <a16:creationId xmlns:a16="http://schemas.microsoft.com/office/drawing/2014/main" id="{A74EF90D-8C84-C332-33DE-057C6E9A1FD0}"/>
              </a:ext>
            </a:extLst>
          </p:cNvPr>
          <p:cNvSpPr txBox="1"/>
          <p:nvPr/>
        </p:nvSpPr>
        <p:spPr>
          <a:xfrm>
            <a:off x="1169389" y="2520571"/>
            <a:ext cx="7578519" cy="35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9"/>
              </a:lnSpc>
            </a:pP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회원가입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/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로그인</a:t>
            </a:r>
            <a:r>
              <a:rPr lang="en-US" altLang="ko-KR" sz="2099" b="1" dirty="0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 / </a:t>
            </a:r>
            <a:r>
              <a:rPr lang="en-US" altLang="ko-KR" sz="2099" b="1" dirty="0" err="1">
                <a:solidFill>
                  <a:srgbClr val="000000"/>
                </a:solidFill>
                <a:latin typeface="+mn-ea"/>
                <a:cs typeface="Noto Sans"/>
                <a:sym typeface="Noto Sans"/>
              </a:rPr>
              <a:t>로그아웃</a:t>
            </a:r>
            <a:endParaRPr lang="en-US" altLang="ko-KR" sz="2099" b="1" dirty="0">
              <a:solidFill>
                <a:srgbClr val="000000"/>
              </a:solidFill>
              <a:latin typeface="+mn-ea"/>
              <a:cs typeface="Noto Sans"/>
              <a:sym typeface="Noto Sans"/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D503F955-0425-D2BB-258F-D45A6FE2C3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532" y="2470791"/>
            <a:ext cx="670618" cy="1694835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468FDE2E-B2DC-FE70-2251-4D95305D43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10825" y="2495315"/>
            <a:ext cx="664522" cy="2255716"/>
          </a:xfrm>
          <a:prstGeom prst="rect">
            <a:avLst/>
          </a:prstGeom>
        </p:spPr>
      </p:pic>
      <p:pic>
        <p:nvPicPr>
          <p:cNvPr id="138" name="그림 137">
            <a:extLst>
              <a:ext uri="{FF2B5EF4-FFF2-40B4-BE49-F238E27FC236}">
                <a16:creationId xmlns:a16="http://schemas.microsoft.com/office/drawing/2014/main" id="{B96067F7-3298-A230-1F75-3A48CC7589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7360" y="6736639"/>
            <a:ext cx="768163" cy="2274005"/>
          </a:xfrm>
          <a:prstGeom prst="rect">
            <a:avLst/>
          </a:prstGeom>
        </p:spPr>
      </p:pic>
      <p:pic>
        <p:nvPicPr>
          <p:cNvPr id="183" name="그림 182">
            <a:extLst>
              <a:ext uri="{FF2B5EF4-FFF2-40B4-BE49-F238E27FC236}">
                <a16:creationId xmlns:a16="http://schemas.microsoft.com/office/drawing/2014/main" id="{9CC75405-159D-642B-6CFD-505CE9F5F9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786" y="6762863"/>
            <a:ext cx="682811" cy="281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>
            <a:extLst>
              <a:ext uri="{FF2B5EF4-FFF2-40B4-BE49-F238E27FC236}">
                <a16:creationId xmlns:a16="http://schemas.microsoft.com/office/drawing/2014/main" id="{914CF285-75E0-CCC7-B0DB-6A43C30E65E9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10/17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C633B18C-FAC7-759C-A92C-9C484C99EBFB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구현환경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DB2F18-7893-4B81-E81E-B2F43E7E6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1" y="1714500"/>
            <a:ext cx="16200066" cy="76247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E9D80-64B3-04CC-7B3F-94C5F311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CFC4AFA-CE77-8F7E-B243-FC76217E80BB}"/>
              </a:ext>
            </a:extLst>
          </p:cNvPr>
          <p:cNvGrpSpPr/>
          <p:nvPr/>
        </p:nvGrpSpPr>
        <p:grpSpPr>
          <a:xfrm>
            <a:off x="464601" y="1642501"/>
            <a:ext cx="8239125" cy="3724275"/>
            <a:chOff x="0" y="0"/>
            <a:chExt cx="10985500" cy="4965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2975607-9821-1514-EFF3-C4E8A7475D3A}"/>
                </a:ext>
              </a:extLst>
            </p:cNvPr>
            <p:cNvSpPr/>
            <p:nvPr/>
          </p:nvSpPr>
          <p:spPr>
            <a:xfrm>
              <a:off x="0" y="0"/>
              <a:ext cx="10985500" cy="4965700"/>
            </a:xfrm>
            <a:custGeom>
              <a:avLst/>
              <a:gdLst/>
              <a:ahLst/>
              <a:cxnLst/>
              <a:rect l="l" t="t" r="r" b="b"/>
              <a:pathLst>
                <a:path w="10985500" h="4965700">
                  <a:moveTo>
                    <a:pt x="0" y="0"/>
                  </a:moveTo>
                  <a:lnTo>
                    <a:pt x="10985500" y="0"/>
                  </a:lnTo>
                  <a:lnTo>
                    <a:pt x="10985500" y="4965700"/>
                  </a:lnTo>
                  <a:lnTo>
                    <a:pt x="0" y="49657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CD50929-6DE8-343D-56E5-8DE7F9A169BC}"/>
              </a:ext>
            </a:extLst>
          </p:cNvPr>
          <p:cNvGrpSpPr/>
          <p:nvPr/>
        </p:nvGrpSpPr>
        <p:grpSpPr>
          <a:xfrm>
            <a:off x="9126363" y="1642501"/>
            <a:ext cx="8686800" cy="3724275"/>
            <a:chOff x="0" y="0"/>
            <a:chExt cx="11582400" cy="49657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15D00F-1873-061E-959B-D04CAD8F4659}"/>
                </a:ext>
              </a:extLst>
            </p:cNvPr>
            <p:cNvSpPr/>
            <p:nvPr/>
          </p:nvSpPr>
          <p:spPr>
            <a:xfrm>
              <a:off x="0" y="0"/>
              <a:ext cx="11582400" cy="4965700"/>
            </a:xfrm>
            <a:custGeom>
              <a:avLst/>
              <a:gdLst/>
              <a:ahLst/>
              <a:cxnLst/>
              <a:rect l="l" t="t" r="r" b="b"/>
              <a:pathLst>
                <a:path w="11582400" h="4965700">
                  <a:moveTo>
                    <a:pt x="0" y="0"/>
                  </a:moveTo>
                  <a:lnTo>
                    <a:pt x="11582400" y="0"/>
                  </a:lnTo>
                  <a:lnTo>
                    <a:pt x="11582400" y="4965700"/>
                  </a:lnTo>
                  <a:lnTo>
                    <a:pt x="0" y="49657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20994ED-14F2-8C0B-C2F4-74D7D5114590}"/>
              </a:ext>
            </a:extLst>
          </p:cNvPr>
          <p:cNvGrpSpPr/>
          <p:nvPr/>
        </p:nvGrpSpPr>
        <p:grpSpPr>
          <a:xfrm>
            <a:off x="9419950" y="2962782"/>
            <a:ext cx="447675" cy="1752600"/>
            <a:chOff x="0" y="0"/>
            <a:chExt cx="596900" cy="2336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464EB8B-D78F-91A4-259C-784D8D0DFBC0}"/>
                </a:ext>
              </a:extLst>
            </p:cNvPr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00FBB82-280D-C6CB-9DD5-CF114A4F59BB}"/>
              </a:ext>
            </a:extLst>
          </p:cNvPr>
          <p:cNvGrpSpPr/>
          <p:nvPr/>
        </p:nvGrpSpPr>
        <p:grpSpPr>
          <a:xfrm>
            <a:off x="464601" y="5581126"/>
            <a:ext cx="8239125" cy="3943350"/>
            <a:chOff x="0" y="0"/>
            <a:chExt cx="10985500" cy="5257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2634181-3437-9CFF-7A08-D191588A5DB9}"/>
                </a:ext>
              </a:extLst>
            </p:cNvPr>
            <p:cNvSpPr/>
            <p:nvPr/>
          </p:nvSpPr>
          <p:spPr>
            <a:xfrm>
              <a:off x="0" y="0"/>
              <a:ext cx="10985500" cy="5257800"/>
            </a:xfrm>
            <a:custGeom>
              <a:avLst/>
              <a:gdLst/>
              <a:ahLst/>
              <a:cxnLst/>
              <a:rect l="l" t="t" r="r" b="b"/>
              <a:pathLst>
                <a:path w="10985500" h="5257800">
                  <a:moveTo>
                    <a:pt x="0" y="0"/>
                  </a:moveTo>
                  <a:lnTo>
                    <a:pt x="10985500" y="0"/>
                  </a:lnTo>
                  <a:lnTo>
                    <a:pt x="10985500" y="5257800"/>
                  </a:lnTo>
                  <a:lnTo>
                    <a:pt x="0" y="52578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9CBF4B25-1072-F8EA-2670-D4F144E35847}"/>
              </a:ext>
            </a:extLst>
          </p:cNvPr>
          <p:cNvGrpSpPr/>
          <p:nvPr/>
        </p:nvGrpSpPr>
        <p:grpSpPr>
          <a:xfrm>
            <a:off x="691842" y="6914997"/>
            <a:ext cx="447675" cy="1752600"/>
            <a:chOff x="0" y="0"/>
            <a:chExt cx="596900" cy="2336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D606CCB-0A16-16BE-F203-F9A82F183261}"/>
                </a:ext>
              </a:extLst>
            </p:cNvPr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FCE817A-B046-13A3-E59E-2FBB91A296A4}"/>
              </a:ext>
            </a:extLst>
          </p:cNvPr>
          <p:cNvGrpSpPr/>
          <p:nvPr/>
        </p:nvGrpSpPr>
        <p:grpSpPr>
          <a:xfrm>
            <a:off x="9126363" y="5581126"/>
            <a:ext cx="8686800" cy="3943350"/>
            <a:chOff x="0" y="0"/>
            <a:chExt cx="11582400" cy="5257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9A718EB-D437-451B-15A7-C63BB373F6D1}"/>
                </a:ext>
              </a:extLst>
            </p:cNvPr>
            <p:cNvSpPr/>
            <p:nvPr/>
          </p:nvSpPr>
          <p:spPr>
            <a:xfrm>
              <a:off x="0" y="0"/>
              <a:ext cx="11582400" cy="5257800"/>
            </a:xfrm>
            <a:custGeom>
              <a:avLst/>
              <a:gdLst/>
              <a:ahLst/>
              <a:cxnLst/>
              <a:rect l="l" t="t" r="r" b="b"/>
              <a:pathLst>
                <a:path w="11582400" h="5257800">
                  <a:moveTo>
                    <a:pt x="0" y="0"/>
                  </a:moveTo>
                  <a:lnTo>
                    <a:pt x="11582400" y="0"/>
                  </a:lnTo>
                  <a:lnTo>
                    <a:pt x="11582400" y="5257800"/>
                  </a:lnTo>
                  <a:lnTo>
                    <a:pt x="0" y="52578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060B7B8-5098-C8C4-E39A-DF92311BA5AA}"/>
              </a:ext>
            </a:extLst>
          </p:cNvPr>
          <p:cNvGrpSpPr/>
          <p:nvPr/>
        </p:nvGrpSpPr>
        <p:grpSpPr>
          <a:xfrm>
            <a:off x="9419949" y="7068923"/>
            <a:ext cx="447675" cy="1752600"/>
            <a:chOff x="0" y="0"/>
            <a:chExt cx="596900" cy="23368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CA647925-1585-7270-14FB-35D468967DA5}"/>
                </a:ext>
              </a:extLst>
            </p:cNvPr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4F8BC132-B48E-EF0C-EA6F-C2C854809104}"/>
              </a:ext>
            </a:extLst>
          </p:cNvPr>
          <p:cNvSpPr txBox="1"/>
          <p:nvPr/>
        </p:nvSpPr>
        <p:spPr>
          <a:xfrm>
            <a:off x="1519498" y="2068315"/>
            <a:ext cx="7147322" cy="519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69"/>
              </a:lnSpc>
            </a:pPr>
            <a:r>
              <a:rPr lang="en-US" altLang="ko-KR" sz="3200" b="1" dirty="0">
                <a:solidFill>
                  <a:srgbClr val="D4A853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Source Han Sans KR Bold"/>
              </a:rPr>
              <a:t>Frontend: React Native </a:t>
            </a:r>
            <a:r>
              <a:rPr lang="en-US" sz="3049" b="1" dirty="0">
                <a:solidFill>
                  <a:srgbClr val="D4A853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Nanum Gothic Ultra-Bold"/>
              </a:rPr>
              <a:t> 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51E3018-7A78-0441-CC78-369F28FFE8AC}"/>
              </a:ext>
            </a:extLst>
          </p:cNvPr>
          <p:cNvSpPr txBox="1"/>
          <p:nvPr/>
        </p:nvSpPr>
        <p:spPr>
          <a:xfrm>
            <a:off x="10387598" y="2068315"/>
            <a:ext cx="6121107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69"/>
              </a:lnSpc>
            </a:pPr>
            <a:r>
              <a:rPr lang="en-US" altLang="ko-KR" sz="3200" b="1" dirty="0">
                <a:solidFill>
                  <a:srgbClr val="D4A853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Source Han Sans KR Bold"/>
              </a:rPr>
              <a:t>Database: MySQL/MongoDB</a:t>
            </a:r>
          </a:p>
          <a:p>
            <a:pPr algn="l">
              <a:lnSpc>
                <a:spcPts val="4269"/>
              </a:lnSpc>
            </a:pPr>
            <a:endParaRPr lang="en-US" sz="3049" b="1" dirty="0">
              <a:solidFill>
                <a:srgbClr val="D4A853"/>
              </a:solidFill>
              <a:latin typeface="Noto Sans Bold" panose="020B0802040504020204" pitchFamily="34" charset="0"/>
              <a:ea typeface="Noto Sans Bold" panose="020B0802040504020204" pitchFamily="34" charset="0"/>
              <a:cs typeface="Noto Sans Bold" panose="020B0802040504020204" pitchFamily="34" charset="0"/>
              <a:sym typeface="Nanum Gothic Ultra-Bold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283FA5A-DC00-62B0-1CE6-B2F57458A736}"/>
              </a:ext>
            </a:extLst>
          </p:cNvPr>
          <p:cNvSpPr txBox="1"/>
          <p:nvPr/>
        </p:nvSpPr>
        <p:spPr>
          <a:xfrm>
            <a:off x="1849120" y="6178995"/>
            <a:ext cx="5890298" cy="404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altLang="ko-KR" sz="3200" b="1" dirty="0">
                <a:solidFill>
                  <a:srgbClr val="D4A85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KT Cloud</a:t>
            </a:r>
          </a:p>
        </p:txBody>
      </p:sp>
      <p:sp>
        <p:nvSpPr>
          <p:cNvPr id="108" name="TextBox 32">
            <a:extLst>
              <a:ext uri="{FF2B5EF4-FFF2-40B4-BE49-F238E27FC236}">
                <a16:creationId xmlns:a16="http://schemas.microsoft.com/office/drawing/2014/main" id="{BEF9BD52-317B-FBDA-9DF0-117ABF466426}"/>
              </a:ext>
            </a:extLst>
          </p:cNvPr>
          <p:cNvSpPr txBox="1"/>
          <p:nvPr/>
        </p:nvSpPr>
        <p:spPr>
          <a:xfrm>
            <a:off x="9862335" y="6962347"/>
            <a:ext cx="7829308" cy="2267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/>
                <a:sym typeface="Noto Sans"/>
              </a:rPr>
              <a:t>Non-blocking I/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O로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동시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다발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주문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/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결제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요청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고속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처리</a:t>
            </a:r>
            <a:endParaRPr lang="en-US" altLang="ko-KR" sz="2000" b="1" dirty="0">
              <a:latin typeface="+mn-ea"/>
              <a:cs typeface="Noto Sans"/>
              <a:sym typeface="Noto Sans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/>
                <a:sym typeface="Noto Sans"/>
              </a:rPr>
              <a:t>NPM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생태계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활용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,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외부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API(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토스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, Firebase)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신속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통합</a:t>
            </a:r>
            <a:endParaRPr lang="en-US" altLang="ko-KR" sz="2000" b="1" dirty="0">
              <a:latin typeface="+mn-ea"/>
              <a:cs typeface="Noto Sans"/>
              <a:sym typeface="Noto Sans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/>
                <a:sym typeface="Noto Sans"/>
              </a:rPr>
              <a:t>RESTful API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설계로 </a:t>
            </a:r>
            <a:r>
              <a:rPr lang="ko-KR" altLang="en-US" sz="2000" b="1" dirty="0" err="1">
                <a:latin typeface="+mn-ea"/>
                <a:cs typeface="Noto Sans"/>
                <a:sym typeface="Noto Sans"/>
              </a:rPr>
              <a:t>프론트엔드와의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 유연하고 독립적인 데이터 통신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 err="1">
                <a:latin typeface="+mn-ea"/>
                <a:cs typeface="Noto Sans"/>
                <a:sym typeface="Noto Sans"/>
              </a:rPr>
              <a:t>모듈화된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 구조 설계를 통해 </a:t>
            </a:r>
            <a:r>
              <a:rPr lang="ko-KR" altLang="en-US" sz="2000" b="1" dirty="0" err="1">
                <a:latin typeface="+mn-ea"/>
                <a:cs typeface="Noto Sans"/>
                <a:sym typeface="Noto Sans"/>
              </a:rPr>
              <a:t>백엔드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 비즈니스 로직의 확장성 확보 </a:t>
            </a:r>
            <a:endParaRPr lang="en-US" altLang="ko-KR" sz="2000" b="1" dirty="0">
              <a:latin typeface="+mn-ea"/>
              <a:cs typeface="Noto Sans"/>
              <a:sym typeface="Noto Sans"/>
            </a:endParaRPr>
          </a:p>
          <a:p>
            <a:pPr>
              <a:lnSpc>
                <a:spcPct val="150000"/>
              </a:lnSpc>
            </a:pPr>
            <a:endParaRPr lang="en-US" sz="2031" b="1" dirty="0">
              <a:latin typeface="+mn-ea"/>
              <a:cs typeface="Nanum Square"/>
              <a:sym typeface="Nanum Square"/>
            </a:endParaRPr>
          </a:p>
        </p:txBody>
      </p:sp>
      <p:sp>
        <p:nvSpPr>
          <p:cNvPr id="111" name="TextBox 30">
            <a:extLst>
              <a:ext uri="{FF2B5EF4-FFF2-40B4-BE49-F238E27FC236}">
                <a16:creationId xmlns:a16="http://schemas.microsoft.com/office/drawing/2014/main" id="{9B299143-F25D-9215-59E7-95F1A485E155}"/>
              </a:ext>
            </a:extLst>
          </p:cNvPr>
          <p:cNvSpPr txBox="1"/>
          <p:nvPr/>
        </p:nvSpPr>
        <p:spPr>
          <a:xfrm>
            <a:off x="10687723" y="6118151"/>
            <a:ext cx="4386844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5"/>
              </a:lnSpc>
            </a:pPr>
            <a:r>
              <a:rPr lang="en-US" altLang="ko-KR" sz="3200" b="1" dirty="0">
                <a:solidFill>
                  <a:srgbClr val="D4A85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Backend: Node.js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7DBB80FA-A273-E8F7-EF7B-3771070E025F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11/17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5AF73011-52DF-FDE5-B4BA-09233FCA96B6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13" name="Freeform 5" descr="preencoded.png">
              <a:extLst>
                <a:ext uri="{FF2B5EF4-FFF2-40B4-BE49-F238E27FC236}">
                  <a16:creationId xmlns:a16="http://schemas.microsoft.com/office/drawing/2014/main" id="{20177803-5B17-48E0-4FFC-66C61A97A44E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3">
            <a:extLst>
              <a:ext uri="{FF2B5EF4-FFF2-40B4-BE49-F238E27FC236}">
                <a16:creationId xmlns:a16="http://schemas.microsoft.com/office/drawing/2014/main" id="{E9DB3048-AB2F-0DBA-E437-4F11D46DCDA1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구현환경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60" name="Group 10">
            <a:extLst>
              <a:ext uri="{FF2B5EF4-FFF2-40B4-BE49-F238E27FC236}">
                <a16:creationId xmlns:a16="http://schemas.microsoft.com/office/drawing/2014/main" id="{9262A41E-B501-7C27-E178-7153230DA73C}"/>
              </a:ext>
            </a:extLst>
          </p:cNvPr>
          <p:cNvGrpSpPr>
            <a:grpSpLocks noChangeAspect="1"/>
          </p:cNvGrpSpPr>
          <p:nvPr/>
        </p:nvGrpSpPr>
        <p:grpSpPr>
          <a:xfrm>
            <a:off x="587501" y="1828375"/>
            <a:ext cx="715648" cy="954197"/>
            <a:chOff x="0" y="0"/>
            <a:chExt cx="457200" cy="609600"/>
          </a:xfrm>
        </p:grpSpPr>
        <p:sp>
          <p:nvSpPr>
            <p:cNvPr id="61" name="Freeform 11" descr="preencoded.png">
              <a:extLst>
                <a:ext uri="{FF2B5EF4-FFF2-40B4-BE49-F238E27FC236}">
                  <a16:creationId xmlns:a16="http://schemas.microsoft.com/office/drawing/2014/main" id="{AEC53BF6-A5FC-18E8-ED36-85CFB1D94903}"/>
                </a:ext>
              </a:extLst>
            </p:cNvPr>
            <p:cNvSpPr/>
            <p:nvPr/>
          </p:nvSpPr>
          <p:spPr>
            <a:xfrm>
              <a:off x="0" y="0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42A9832-0EFD-2B6B-5075-7C2868E91D20}"/>
              </a:ext>
            </a:extLst>
          </p:cNvPr>
          <p:cNvSpPr txBox="1"/>
          <p:nvPr/>
        </p:nvSpPr>
        <p:spPr>
          <a:xfrm>
            <a:off x="1037048" y="2893007"/>
            <a:ext cx="72681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/>
                <a:sym typeface="Noto Sans"/>
              </a:rPr>
              <a:t>Android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단일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코드베이스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통합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개발로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효율성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극대화</a:t>
            </a:r>
            <a:endParaRPr lang="en-US" altLang="ko-KR" sz="2000" b="1" dirty="0">
              <a:latin typeface="+mn-ea"/>
              <a:cs typeface="Noto Sans"/>
              <a:sym typeface="Noto Sans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/>
                <a:sym typeface="Noto Sans"/>
              </a:rPr>
              <a:t>NFC/QR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네이티브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모듈로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하드웨어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안정적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sz="2000" b="1" dirty="0" err="1">
                <a:latin typeface="+mn-ea"/>
                <a:cs typeface="Noto Sans"/>
                <a:sym typeface="Noto Sans"/>
              </a:rPr>
              <a:t>제어</a:t>
            </a:r>
            <a:endParaRPr lang="en-US" altLang="ko-KR" sz="2000" b="1" dirty="0">
              <a:latin typeface="+mn-ea"/>
              <a:cs typeface="Noto Sans"/>
              <a:sym typeface="Noto Sans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  <a:cs typeface="Noto Sans"/>
                <a:sym typeface="Noto Sans"/>
              </a:rPr>
              <a:t>사용자 친화적 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UI/UX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구현 및 실시간 데이터 렌더링 최적화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  <a:cs typeface="Noto Sans"/>
                <a:sym typeface="Noto Sans"/>
              </a:rPr>
              <a:t>크로스 플랫폼 확장성 고려 및 컴포넌트 재사용성 극대화 </a:t>
            </a:r>
            <a:endParaRPr lang="en-US" altLang="ko-KR" sz="2000" b="1" dirty="0">
              <a:latin typeface="+mn-ea"/>
              <a:cs typeface="Noto Sans"/>
              <a:sym typeface="Noto Sans"/>
            </a:endParaRPr>
          </a:p>
        </p:txBody>
      </p:sp>
      <p:grpSp>
        <p:nvGrpSpPr>
          <p:cNvPr id="68" name="Group 38">
            <a:extLst>
              <a:ext uri="{FF2B5EF4-FFF2-40B4-BE49-F238E27FC236}">
                <a16:creationId xmlns:a16="http://schemas.microsoft.com/office/drawing/2014/main" id="{60A9D52E-783A-7793-3EFF-389A02F8785F}"/>
              </a:ext>
            </a:extLst>
          </p:cNvPr>
          <p:cNvGrpSpPr>
            <a:grpSpLocks noChangeAspect="1"/>
          </p:cNvGrpSpPr>
          <p:nvPr/>
        </p:nvGrpSpPr>
        <p:grpSpPr>
          <a:xfrm>
            <a:off x="9299092" y="1894897"/>
            <a:ext cx="568533" cy="866335"/>
            <a:chOff x="0" y="0"/>
            <a:chExt cx="400050" cy="609600"/>
          </a:xfrm>
        </p:grpSpPr>
        <p:sp>
          <p:nvSpPr>
            <p:cNvPr id="69" name="Freeform 39" descr="preencoded.png">
              <a:extLst>
                <a:ext uri="{FF2B5EF4-FFF2-40B4-BE49-F238E27FC236}">
                  <a16:creationId xmlns:a16="http://schemas.microsoft.com/office/drawing/2014/main" id="{197B3E81-CE54-7F19-A32F-210F8CE9299F}"/>
                </a:ext>
              </a:extLst>
            </p:cNvPr>
            <p:cNvSpPr/>
            <p:nvPr/>
          </p:nvSpPr>
          <p:spPr>
            <a:xfrm>
              <a:off x="0" y="0"/>
              <a:ext cx="400050" cy="609600"/>
            </a:xfrm>
            <a:custGeom>
              <a:avLst/>
              <a:gdLst/>
              <a:ahLst/>
              <a:cxnLst/>
              <a:rect l="l" t="t" r="r" b="b"/>
              <a:pathLst>
                <a:path w="400050" h="60960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EF730A1A-977D-B8BF-C8D0-88FC4852FBEB}"/>
              </a:ext>
            </a:extLst>
          </p:cNvPr>
          <p:cNvSpPr txBox="1"/>
          <p:nvPr/>
        </p:nvSpPr>
        <p:spPr>
          <a:xfrm>
            <a:off x="9677401" y="2869586"/>
            <a:ext cx="8135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/>
                <a:sym typeface="Noto Sans"/>
              </a:rPr>
              <a:t>MySQL: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결제주문유저데이터 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(ACID)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트랜잭션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,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무결성 보장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/>
                <a:sym typeface="Noto Sans"/>
              </a:rPr>
              <a:t>MongoDB: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상품 상세활동 로그 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(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스키마 자유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,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대규모 조회 최적화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  <a:cs typeface="Noto Sans"/>
                <a:sym typeface="Noto Sans"/>
              </a:rPr>
              <a:t>데이터 특성에 맞춘 하이브리드</a:t>
            </a:r>
            <a:r>
              <a:rPr lang="en-US" altLang="ko-KR" sz="2000" b="1" dirty="0">
                <a:latin typeface="+mn-ea"/>
                <a:cs typeface="Noto Sans"/>
                <a:sym typeface="Noto Sans"/>
              </a:rPr>
              <a:t>(Relational + NoSQL) </a:t>
            </a:r>
            <a:r>
              <a:rPr lang="ko-KR" altLang="en-US" sz="2000" b="1" dirty="0">
                <a:latin typeface="+mn-ea"/>
                <a:cs typeface="Noto Sans"/>
                <a:sym typeface="Noto Sans"/>
              </a:rPr>
              <a:t>아키텍처 구축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  <a:cs typeface="Noto Sans"/>
                <a:sym typeface="Noto Sans"/>
              </a:rPr>
              <a:t>인덱싱 최적화를 통한 대용량 데이터 쿼리 속도 개선 </a:t>
            </a:r>
            <a:endParaRPr lang="en-US" altLang="ko-KR" sz="2000" b="1" dirty="0">
              <a:latin typeface="+mn-ea"/>
              <a:cs typeface="Noto Sans"/>
              <a:sym typeface="Noto Sans"/>
            </a:endParaRPr>
          </a:p>
        </p:txBody>
      </p:sp>
      <p:grpSp>
        <p:nvGrpSpPr>
          <p:cNvPr id="73" name="Group 35">
            <a:extLst>
              <a:ext uri="{FF2B5EF4-FFF2-40B4-BE49-F238E27FC236}">
                <a16:creationId xmlns:a16="http://schemas.microsoft.com/office/drawing/2014/main" id="{13BC2C33-CFF0-1E7A-A476-E9B991F2CF51}"/>
              </a:ext>
            </a:extLst>
          </p:cNvPr>
          <p:cNvGrpSpPr/>
          <p:nvPr/>
        </p:nvGrpSpPr>
        <p:grpSpPr>
          <a:xfrm>
            <a:off x="397274" y="5777354"/>
            <a:ext cx="1096185" cy="1063391"/>
            <a:chOff x="0" y="0"/>
            <a:chExt cx="841820" cy="816635"/>
          </a:xfrm>
        </p:grpSpPr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D5CE2C7E-99A8-B438-AF15-564CC045C730}"/>
                </a:ext>
              </a:extLst>
            </p:cNvPr>
            <p:cNvSpPr/>
            <p:nvPr/>
          </p:nvSpPr>
          <p:spPr>
            <a:xfrm>
              <a:off x="0" y="0"/>
              <a:ext cx="841756" cy="816610"/>
            </a:xfrm>
            <a:custGeom>
              <a:avLst/>
              <a:gdLst/>
              <a:ahLst/>
              <a:cxnLst/>
              <a:rect l="l" t="t" r="r" b="b"/>
              <a:pathLst>
                <a:path w="841756" h="816610">
                  <a:moveTo>
                    <a:pt x="0" y="0"/>
                  </a:moveTo>
                  <a:lnTo>
                    <a:pt x="841756" y="0"/>
                  </a:lnTo>
                  <a:lnTo>
                    <a:pt x="841756" y="816610"/>
                  </a:lnTo>
                  <a:lnTo>
                    <a:pt x="0" y="81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l="-156" r="-1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Group 24">
            <a:extLst>
              <a:ext uri="{FF2B5EF4-FFF2-40B4-BE49-F238E27FC236}">
                <a16:creationId xmlns:a16="http://schemas.microsoft.com/office/drawing/2014/main" id="{A25D0ECE-7332-0835-C571-74512FEC0339}"/>
              </a:ext>
            </a:extLst>
          </p:cNvPr>
          <p:cNvGrpSpPr>
            <a:grpSpLocks noChangeAspect="1"/>
          </p:cNvGrpSpPr>
          <p:nvPr/>
        </p:nvGrpSpPr>
        <p:grpSpPr>
          <a:xfrm>
            <a:off x="9391324" y="5767836"/>
            <a:ext cx="731311" cy="1114377"/>
            <a:chOff x="0" y="0"/>
            <a:chExt cx="400050" cy="609600"/>
          </a:xfrm>
        </p:grpSpPr>
        <p:sp>
          <p:nvSpPr>
            <p:cNvPr id="76" name="Freeform 25" descr="preencoded.png">
              <a:extLst>
                <a:ext uri="{FF2B5EF4-FFF2-40B4-BE49-F238E27FC236}">
                  <a16:creationId xmlns:a16="http://schemas.microsoft.com/office/drawing/2014/main" id="{7A4EEE1B-F74A-97AD-6393-734BD2544911}"/>
                </a:ext>
              </a:extLst>
            </p:cNvPr>
            <p:cNvSpPr/>
            <p:nvPr/>
          </p:nvSpPr>
          <p:spPr>
            <a:xfrm>
              <a:off x="0" y="0"/>
              <a:ext cx="400050" cy="609600"/>
            </a:xfrm>
            <a:custGeom>
              <a:avLst/>
              <a:gdLst/>
              <a:ahLst/>
              <a:cxnLst/>
              <a:rect l="l" t="t" r="r" b="b"/>
              <a:pathLst>
                <a:path w="400050" h="60960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8" name="Group 14">
            <a:extLst>
              <a:ext uri="{FF2B5EF4-FFF2-40B4-BE49-F238E27FC236}">
                <a16:creationId xmlns:a16="http://schemas.microsoft.com/office/drawing/2014/main" id="{120994ED-14F2-8C0B-C2F4-74D7D5114590}"/>
              </a:ext>
            </a:extLst>
          </p:cNvPr>
          <p:cNvGrpSpPr/>
          <p:nvPr/>
        </p:nvGrpSpPr>
        <p:grpSpPr>
          <a:xfrm>
            <a:off x="748284" y="2962782"/>
            <a:ext cx="447675" cy="1752600"/>
            <a:chOff x="0" y="0"/>
            <a:chExt cx="596900" cy="2336800"/>
          </a:xfrm>
        </p:grpSpPr>
        <p:sp>
          <p:nvSpPr>
            <p:cNvPr id="39" name="Freeform 15">
              <a:extLst>
                <a:ext uri="{FF2B5EF4-FFF2-40B4-BE49-F238E27FC236}">
                  <a16:creationId xmlns:a16="http://schemas.microsoft.com/office/drawing/2014/main" id="{3464EB8B-D78F-91A4-259C-784D8D0DFBC0}"/>
                </a:ext>
              </a:extLst>
            </p:cNvPr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42A9832-0EFD-2B6B-5075-7C2868E91D20}"/>
              </a:ext>
            </a:extLst>
          </p:cNvPr>
          <p:cNvSpPr txBox="1"/>
          <p:nvPr/>
        </p:nvSpPr>
        <p:spPr>
          <a:xfrm>
            <a:off x="1037048" y="6804548"/>
            <a:ext cx="762977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  <a:cs typeface="Noto Sans" panose="020B0502040504020204" pitchFamily="34" charset="0"/>
              </a:rPr>
              <a:t>KT </a:t>
            </a:r>
            <a:r>
              <a:rPr lang="en-US" altLang="ko-KR" sz="2000" b="1" dirty="0" err="1">
                <a:latin typeface="+mn-ea"/>
                <a:cs typeface="Noto Sans" panose="020B0502040504020204" pitchFamily="34" charset="0"/>
              </a:rPr>
              <a:t>Cluoud</a:t>
            </a: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를 통한 </a:t>
            </a:r>
            <a:r>
              <a:rPr lang="ko-KR" altLang="en-US" sz="2000" b="1" dirty="0" err="1">
                <a:latin typeface="+mn-ea"/>
                <a:cs typeface="Noto Sans" panose="020B0502040504020204" pitchFamily="34" charset="0"/>
              </a:rPr>
              <a:t>백엔드</a:t>
            </a: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 </a:t>
            </a:r>
            <a:r>
              <a:rPr lang="en-US" altLang="ko-KR" sz="2000" b="1" dirty="0">
                <a:latin typeface="+mn-ea"/>
                <a:cs typeface="Noto Sans" panose="020B0502040504020204" pitchFamily="34" charset="0"/>
              </a:rPr>
              <a:t>API </a:t>
            </a: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상시 가동 및 확장성 확보</a:t>
            </a:r>
            <a:endParaRPr lang="en-US" altLang="ko-KR" sz="2000" b="1" dirty="0">
              <a:latin typeface="+mn-ea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안정적인 </a:t>
            </a:r>
            <a:r>
              <a:rPr lang="ko-KR" altLang="en-US" sz="2000" b="1" dirty="0" err="1">
                <a:latin typeface="+mn-ea"/>
                <a:cs typeface="Noto Sans" panose="020B0502040504020204" pitchFamily="34" charset="0"/>
              </a:rPr>
              <a:t>클라우드</a:t>
            </a: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 인프라를 통한 서버 부하 분산 및 </a:t>
            </a:r>
            <a:r>
              <a:rPr lang="ko-KR" altLang="en-US" sz="2000" b="1" dirty="0" err="1">
                <a:latin typeface="+mn-ea"/>
                <a:cs typeface="Noto Sans" panose="020B0502040504020204" pitchFamily="34" charset="0"/>
              </a:rPr>
              <a:t>보안성</a:t>
            </a: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 강화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지속적인 모니터링을 통한 유지보수 편의성 증대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외부 접속 최적화 및 유연한 리소스 확장을 통한 </a:t>
            </a:r>
            <a:r>
              <a:rPr lang="ko-KR" altLang="en-US" sz="2000" b="1" dirty="0" err="1">
                <a:latin typeface="+mn-ea"/>
                <a:cs typeface="Noto Sans" panose="020B0502040504020204" pitchFamily="34" charset="0"/>
              </a:rPr>
              <a:t>고가용성</a:t>
            </a:r>
            <a:r>
              <a:rPr lang="ko-KR" altLang="en-US" sz="2000" b="1" dirty="0">
                <a:latin typeface="+mn-ea"/>
                <a:cs typeface="Noto Sans" panose="020B0502040504020204" pitchFamily="34" charset="0"/>
              </a:rPr>
              <a:t> 유지 </a:t>
            </a:r>
            <a:endParaRPr lang="en-US" altLang="ko-KR" sz="2000" b="1" dirty="0">
              <a:latin typeface="+mn-ea"/>
              <a:cs typeface="Noto Sans" panose="020B0502040504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+mn-ea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29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64601" y="1642501"/>
            <a:ext cx="8239125" cy="3724275"/>
            <a:chOff x="0" y="0"/>
            <a:chExt cx="10985500" cy="4965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85500" cy="4965700"/>
            </a:xfrm>
            <a:custGeom>
              <a:avLst/>
              <a:gdLst/>
              <a:ahLst/>
              <a:cxnLst/>
              <a:rect l="l" t="t" r="r" b="b"/>
              <a:pathLst>
                <a:path w="10985500" h="4965700">
                  <a:moveTo>
                    <a:pt x="0" y="0"/>
                  </a:moveTo>
                  <a:lnTo>
                    <a:pt x="10985500" y="0"/>
                  </a:lnTo>
                  <a:lnTo>
                    <a:pt x="10985500" y="4965700"/>
                  </a:lnTo>
                  <a:lnTo>
                    <a:pt x="0" y="49657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7144" y="1861309"/>
            <a:ext cx="885825" cy="1095375"/>
            <a:chOff x="0" y="0"/>
            <a:chExt cx="1181100" cy="1460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1100" cy="1460500"/>
            </a:xfrm>
            <a:custGeom>
              <a:avLst/>
              <a:gdLst/>
              <a:ahLst/>
              <a:cxnLst/>
              <a:rect l="l" t="t" r="r" b="b"/>
              <a:pathLst>
                <a:path w="1181100" h="1460500">
                  <a:moveTo>
                    <a:pt x="0" y="0"/>
                  </a:moveTo>
                  <a:lnTo>
                    <a:pt x="1181100" y="0"/>
                  </a:lnTo>
                  <a:lnTo>
                    <a:pt x="1181100" y="1460500"/>
                  </a:lnTo>
                  <a:lnTo>
                    <a:pt x="0" y="146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6010" y="2955379"/>
            <a:ext cx="447675" cy="1752600"/>
            <a:chOff x="0" y="0"/>
            <a:chExt cx="596900" cy="2336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0218" y="1642501"/>
            <a:ext cx="8686800" cy="3724275"/>
            <a:chOff x="0" y="0"/>
            <a:chExt cx="11582400" cy="4965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82400" cy="4965700"/>
            </a:xfrm>
            <a:custGeom>
              <a:avLst/>
              <a:gdLst/>
              <a:ahLst/>
              <a:cxnLst/>
              <a:rect l="l" t="t" r="r" b="b"/>
              <a:pathLst>
                <a:path w="11582400" h="4965700">
                  <a:moveTo>
                    <a:pt x="0" y="0"/>
                  </a:moveTo>
                  <a:lnTo>
                    <a:pt x="11582400" y="0"/>
                  </a:lnTo>
                  <a:lnTo>
                    <a:pt x="11582400" y="4965700"/>
                  </a:lnTo>
                  <a:lnTo>
                    <a:pt x="0" y="49657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07435" y="2955379"/>
            <a:ext cx="447675" cy="1752600"/>
            <a:chOff x="0" y="0"/>
            <a:chExt cx="596900" cy="2336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4601" y="5581126"/>
            <a:ext cx="8239125" cy="3943350"/>
            <a:chOff x="0" y="0"/>
            <a:chExt cx="10985500" cy="525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85500" cy="5257800"/>
            </a:xfrm>
            <a:custGeom>
              <a:avLst/>
              <a:gdLst/>
              <a:ahLst/>
              <a:cxnLst/>
              <a:rect l="l" t="t" r="r" b="b"/>
              <a:pathLst>
                <a:path w="10985500" h="5257800">
                  <a:moveTo>
                    <a:pt x="0" y="0"/>
                  </a:moveTo>
                  <a:lnTo>
                    <a:pt x="10985500" y="0"/>
                  </a:lnTo>
                  <a:lnTo>
                    <a:pt x="10985500" y="5257800"/>
                  </a:lnTo>
                  <a:lnTo>
                    <a:pt x="0" y="52578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6010" y="7112813"/>
            <a:ext cx="447675" cy="1752600"/>
            <a:chOff x="0" y="0"/>
            <a:chExt cx="596900" cy="2336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26363" y="5581126"/>
            <a:ext cx="8686800" cy="3943350"/>
            <a:chOff x="0" y="0"/>
            <a:chExt cx="11582400" cy="5257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82400" cy="5257800"/>
            </a:xfrm>
            <a:custGeom>
              <a:avLst/>
              <a:gdLst/>
              <a:ahLst/>
              <a:cxnLst/>
              <a:rect l="l" t="t" r="r" b="b"/>
              <a:pathLst>
                <a:path w="11582400" h="5257800">
                  <a:moveTo>
                    <a:pt x="0" y="0"/>
                  </a:moveTo>
                  <a:lnTo>
                    <a:pt x="11582400" y="0"/>
                  </a:lnTo>
                  <a:lnTo>
                    <a:pt x="11582400" y="5257800"/>
                  </a:lnTo>
                  <a:lnTo>
                    <a:pt x="0" y="52578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D4A85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07435" y="7112813"/>
            <a:ext cx="447675" cy="1752600"/>
            <a:chOff x="0" y="0"/>
            <a:chExt cx="596900" cy="2336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96900" cy="2336800"/>
            </a:xfrm>
            <a:custGeom>
              <a:avLst/>
              <a:gdLst/>
              <a:ahLst/>
              <a:cxnLst/>
              <a:rect l="l" t="t" r="r" b="b"/>
              <a:pathLst>
                <a:path w="596900" h="2336800">
                  <a:moveTo>
                    <a:pt x="0" y="0"/>
                  </a:moveTo>
                  <a:lnTo>
                    <a:pt x="596900" y="0"/>
                  </a:lnTo>
                  <a:lnTo>
                    <a:pt x="5969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693869" y="2089814"/>
            <a:ext cx="6653336" cy="507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69"/>
              </a:lnSpc>
            </a:pPr>
            <a:r>
              <a:rPr lang="en-US" sz="3049" b="1" dirty="0">
                <a:solidFill>
                  <a:srgbClr val="D4A853"/>
                </a:solidFill>
                <a:latin typeface="Nanum Gothic Ultra-Bold"/>
                <a:ea typeface="Nanum Gothic Ultra-Bold"/>
                <a:cs typeface="Nanum Gothic Ultra-Bold"/>
                <a:sym typeface="Nanum Gothic Ultra-Bold"/>
              </a:rPr>
              <a:t>Firebase Cloud Messaging </a:t>
            </a:r>
            <a:r>
              <a:rPr lang="ko-KR" altLang="en-US" sz="3049" b="1" dirty="0">
                <a:solidFill>
                  <a:srgbClr val="D4A853"/>
                </a:solidFill>
                <a:latin typeface="Nanum Gothic Ultra-Bold"/>
                <a:ea typeface="Nanum Gothic Ultra-Bold"/>
                <a:cs typeface="Nanum Gothic Ultra-Bold"/>
                <a:sym typeface="Nanum Gothic Ultra-Bold"/>
              </a:rPr>
              <a:t>구역</a:t>
            </a:r>
            <a:r>
              <a:rPr lang="en-US" sz="3049" b="1" dirty="0">
                <a:solidFill>
                  <a:srgbClr val="D4A853"/>
                </a:solidFill>
                <a:latin typeface="Nanum Gothic Ultra-Bold"/>
                <a:ea typeface="Nanum Gothic Ultra-Bold"/>
                <a:cs typeface="Nanum Gothic Ultra-Bold"/>
                <a:sym typeface="Nanum Gothic Ultra-Bold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24477" y="2089814"/>
            <a:ext cx="4386844" cy="51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9"/>
              </a:lnSpc>
            </a:pPr>
            <a:r>
              <a:rPr lang="en-US" sz="3049" b="1" dirty="0">
                <a:solidFill>
                  <a:srgbClr val="D4A853"/>
                </a:solidFill>
                <a:latin typeface="Nanum Gothic Ultra-Bold"/>
                <a:ea typeface="Nanum Gothic Ultra-Bold"/>
                <a:cs typeface="Nanum Gothic Ultra-Bold"/>
                <a:sym typeface="Nanum Gothic Ultra-Bold"/>
              </a:rPr>
              <a:t>T Map </a:t>
            </a:r>
            <a:r>
              <a:rPr lang="ko-KR" altLang="en-US" sz="3049" b="1" dirty="0">
                <a:solidFill>
                  <a:srgbClr val="D4A853"/>
                </a:solidFill>
                <a:latin typeface="Nanum Gothic Ultra-Bold"/>
                <a:ea typeface="Nanum Gothic Ultra-Bold"/>
                <a:cs typeface="Nanum Gothic Ultra-Bold"/>
                <a:sym typeface="Nanum Gothic Ultra-Bold"/>
              </a:rPr>
              <a:t>연동</a:t>
            </a:r>
            <a:endParaRPr lang="en-US" sz="3049" b="1" dirty="0">
              <a:solidFill>
                <a:srgbClr val="D4A853"/>
              </a:solidFill>
              <a:latin typeface="Nanum Gothic Ultra-Bold"/>
              <a:ea typeface="Nanum Gothic Ultra-Bold"/>
              <a:cs typeface="Nanum Gothic Ultra-Bold"/>
              <a:sym typeface="Nanum Gothic Ultra-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64321" y="2931443"/>
            <a:ext cx="7548842" cy="389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endParaRPr lang="en-US" sz="2000" dirty="0">
              <a:latin typeface="Noto Sans" panose="020B0502040504020204"/>
              <a:ea typeface="Nanum Square"/>
              <a:cs typeface="Nanum Square"/>
              <a:sym typeface="Nanum Squar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805902" y="6066025"/>
            <a:ext cx="2537498" cy="483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897" b="1" dirty="0" err="1">
                <a:solidFill>
                  <a:srgbClr val="D4A853"/>
                </a:solidFill>
                <a:latin typeface="Nanum Gothic Ultra-Bold"/>
                <a:ea typeface="Nanum Gothic Ultra-Bold"/>
                <a:cs typeface="Nanum Gothic Ultra-Bold"/>
                <a:sym typeface="Nanum Gothic Ultra-Bold"/>
              </a:rPr>
              <a:t>Tosspayments</a:t>
            </a:r>
            <a:endParaRPr lang="en-US" sz="2897" b="1" dirty="0">
              <a:solidFill>
                <a:srgbClr val="D4A853"/>
              </a:solidFill>
              <a:latin typeface="Nanum Gothic Ultra-Bold"/>
              <a:ea typeface="Nanum Gothic Ultra-Bold"/>
              <a:cs typeface="Nanum Gothic Ultra-Bold"/>
              <a:sym typeface="Nanum Gothic Ultra-Bold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60044408-B766-0E52-AAF2-F2C91A0230C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132" y="1866752"/>
            <a:ext cx="1095375" cy="109537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96C881BA-31E2-D9CD-96D5-3C06D427A00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64" y="5753958"/>
            <a:ext cx="1175776" cy="1175776"/>
          </a:xfrm>
          <a:prstGeom prst="rect">
            <a:avLst/>
          </a:prstGeom>
        </p:spPr>
      </p:pic>
      <p:sp>
        <p:nvSpPr>
          <p:cNvPr id="108" name="TextBox 32">
            <a:extLst>
              <a:ext uri="{FF2B5EF4-FFF2-40B4-BE49-F238E27FC236}">
                <a16:creationId xmlns:a16="http://schemas.microsoft.com/office/drawing/2014/main" id="{242776EF-1250-74DB-E591-53CAC15C8488}"/>
              </a:ext>
            </a:extLst>
          </p:cNvPr>
          <p:cNvSpPr txBox="1"/>
          <p:nvPr/>
        </p:nvSpPr>
        <p:spPr>
          <a:xfrm>
            <a:off x="10153892" y="7048623"/>
            <a:ext cx="755202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ko-KR" altLang="en-US" sz="2000" b="1" dirty="0">
                <a:latin typeface="+mn-ea"/>
              </a:rPr>
              <a:t>카카오</a:t>
            </a:r>
            <a:r>
              <a:rPr lang="en-US" altLang="ko-KR" sz="2000" b="1" dirty="0">
                <a:latin typeface="+mn-ea"/>
              </a:rPr>
              <a:t>·</a:t>
            </a:r>
            <a:r>
              <a:rPr lang="ko-KR" altLang="en-US" sz="2000" b="1" dirty="0">
                <a:latin typeface="+mn-ea"/>
              </a:rPr>
              <a:t>네이버</a:t>
            </a:r>
            <a:r>
              <a:rPr lang="en-US" altLang="ko-KR" sz="2000" b="1" dirty="0">
                <a:latin typeface="+mn-ea"/>
              </a:rPr>
              <a:t>·</a:t>
            </a:r>
            <a:r>
              <a:rPr lang="ko-KR" altLang="en-US" sz="2000" b="1" dirty="0">
                <a:latin typeface="+mn-ea"/>
              </a:rPr>
              <a:t>구글 </a:t>
            </a:r>
            <a:r>
              <a:rPr lang="en-US" altLang="ko-KR" sz="2000" b="1" dirty="0">
                <a:latin typeface="+mn-ea"/>
              </a:rPr>
              <a:t>API </a:t>
            </a:r>
            <a:r>
              <a:rPr lang="ko-KR" altLang="en-US" sz="2000" b="1" dirty="0">
                <a:latin typeface="+mn-ea"/>
              </a:rPr>
              <a:t>연동을 통한 간편 로그인 지원</a:t>
            </a:r>
          </a:p>
          <a:p>
            <a:pPr>
              <a:lnSpc>
                <a:spcPts val="3600"/>
              </a:lnSpc>
            </a:pPr>
            <a:r>
              <a:rPr lang="ko-KR" altLang="en-US" sz="2000" b="1" dirty="0">
                <a:latin typeface="+mn-ea"/>
              </a:rPr>
              <a:t>회원가입 절차 최소화를 통한 신규 유저 접근성 향상</a:t>
            </a:r>
          </a:p>
          <a:p>
            <a:pPr>
              <a:lnSpc>
                <a:spcPts val="3600"/>
              </a:lnSpc>
            </a:pPr>
            <a:r>
              <a:rPr lang="en-US" altLang="ko-KR" sz="2000" b="1" dirty="0">
                <a:latin typeface="+mn-ea"/>
              </a:rPr>
              <a:t>OAuth 2.0 </a:t>
            </a:r>
            <a:r>
              <a:rPr lang="ko-KR" altLang="en-US" sz="2000" b="1" dirty="0">
                <a:latin typeface="+mn-ea"/>
              </a:rPr>
              <a:t>표준 프로토콜 기반의 안전한 유저 인증</a:t>
            </a:r>
          </a:p>
          <a:p>
            <a:pPr>
              <a:lnSpc>
                <a:spcPts val="3600"/>
              </a:lnSpc>
            </a:pPr>
            <a:r>
              <a:rPr lang="ko-KR" altLang="en-US" sz="2000" b="1" dirty="0">
                <a:latin typeface="+mn-ea"/>
              </a:rPr>
              <a:t>자체 개인정보 관리 부담 완화 및 보안 리스크 최소화</a:t>
            </a:r>
            <a:endParaRPr lang="en-US" sz="2000" b="1" dirty="0">
              <a:latin typeface="+mn-ea"/>
              <a:cs typeface="Nanum Square"/>
              <a:sym typeface="Nanum Square"/>
            </a:endParaRPr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CE5063F1-28FD-DCDE-F62D-3FCF9CF8BED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295" y="5796606"/>
            <a:ext cx="1226492" cy="1108072"/>
          </a:xfrm>
          <a:prstGeom prst="rect">
            <a:avLst/>
          </a:prstGeom>
        </p:spPr>
      </p:pic>
      <p:sp>
        <p:nvSpPr>
          <p:cNvPr id="111" name="TextBox 30">
            <a:extLst>
              <a:ext uri="{FF2B5EF4-FFF2-40B4-BE49-F238E27FC236}">
                <a16:creationId xmlns:a16="http://schemas.microsoft.com/office/drawing/2014/main" id="{503BA219-AD6E-A647-A306-60C9A990E9D1}"/>
              </a:ext>
            </a:extLst>
          </p:cNvPr>
          <p:cNvSpPr txBox="1"/>
          <p:nvPr/>
        </p:nvSpPr>
        <p:spPr>
          <a:xfrm>
            <a:off x="10825614" y="6066025"/>
            <a:ext cx="4386844" cy="517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9"/>
              </a:lnSpc>
            </a:pPr>
            <a:r>
              <a:rPr lang="ko-KR" altLang="en-US" sz="3049" b="1" dirty="0">
                <a:solidFill>
                  <a:srgbClr val="D4A853"/>
                </a:solidFill>
                <a:latin typeface="Nanum Gothic Ultra-Bold"/>
                <a:ea typeface="Nanum Gothic Ultra-Bold"/>
                <a:cs typeface="Nanum Gothic Ultra-Bold"/>
                <a:sym typeface="Nanum Gothic Ultra-Bold"/>
              </a:rPr>
              <a:t>대체 로그인</a:t>
            </a:r>
            <a:endParaRPr lang="en-US" sz="3049" b="1" dirty="0">
              <a:solidFill>
                <a:srgbClr val="D4A853"/>
              </a:solidFill>
              <a:latin typeface="Nanum Gothic Ultra-Bold"/>
              <a:ea typeface="Nanum Gothic Ultra-Bold"/>
              <a:cs typeface="Nanum Gothic Ultra-Bold"/>
              <a:sym typeface="Nanum Gothic Ultra-Bold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A65A31FC-3B8F-A129-E290-1AC1DE357B7E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12/17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69488E30-6E28-477F-A075-3E9FC19BA908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13" name="Freeform 5" descr="preencoded.png">
              <a:extLst>
                <a:ext uri="{FF2B5EF4-FFF2-40B4-BE49-F238E27FC236}">
                  <a16:creationId xmlns:a16="http://schemas.microsoft.com/office/drawing/2014/main" id="{2D891C4E-AB96-C4BD-8A35-A4DF3DBDFE52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3">
            <a:extLst>
              <a:ext uri="{FF2B5EF4-FFF2-40B4-BE49-F238E27FC236}">
                <a16:creationId xmlns:a16="http://schemas.microsoft.com/office/drawing/2014/main" id="{972E7DAB-6357-3FDC-5CCB-C3538769D2C6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구현환경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6" name="TextBox 32"/>
          <p:cNvSpPr txBox="1"/>
          <p:nvPr/>
        </p:nvSpPr>
        <p:spPr>
          <a:xfrm>
            <a:off x="1357213" y="2962127"/>
            <a:ext cx="7271261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고객 주문 및 결제 완료 시 </a:t>
            </a:r>
            <a:r>
              <a:rPr lang="ko-KR" altLang="en-US" sz="2000" b="1" dirty="0" err="1">
                <a:latin typeface="+mn-ea"/>
                <a:cs typeface="Nanum Square"/>
                <a:sym typeface="Nanum Square"/>
              </a:rPr>
              <a:t>점주용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 실시간 푸시 알림</a:t>
            </a:r>
          </a:p>
          <a:p>
            <a:pPr>
              <a:lnSpc>
                <a:spcPts val="3600"/>
              </a:lnSpc>
            </a:pP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안드로이드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/iOS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를 동시에 지원하는 크로스 플랫폼 지원</a:t>
            </a:r>
          </a:p>
          <a:p>
            <a:pPr>
              <a:lnSpc>
                <a:spcPts val="3600"/>
              </a:lnSpc>
            </a:pP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배터리 및 네트워크 소모를 최소화한 백그라운드 메시지 수신</a:t>
            </a:r>
          </a:p>
          <a:p>
            <a:pPr>
              <a:lnSpc>
                <a:spcPts val="3600"/>
              </a:lnSpc>
            </a:pP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타겟 유저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(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점주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/</a:t>
            </a:r>
            <a:r>
              <a:rPr lang="ko-KR" altLang="en-US" sz="2000" b="1" dirty="0" err="1">
                <a:latin typeface="+mn-ea"/>
                <a:cs typeface="Nanum Square"/>
                <a:sym typeface="Nanum Square"/>
              </a:rPr>
              <a:t>배달기사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/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고객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) 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그룹별 맞춤화 데이터 전송</a:t>
            </a:r>
          </a:p>
          <a:p>
            <a:pPr algn="l">
              <a:lnSpc>
                <a:spcPts val="3600"/>
              </a:lnSpc>
            </a:pPr>
            <a:endParaRPr lang="en-US" sz="2000" b="1" dirty="0">
              <a:latin typeface="+mn-ea"/>
              <a:cs typeface="Nanum Square"/>
              <a:sym typeface="Nanum Square"/>
            </a:endParaRP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242776EF-1250-74DB-E591-53CAC15C8488}"/>
              </a:ext>
            </a:extLst>
          </p:cNvPr>
          <p:cNvSpPr txBox="1"/>
          <p:nvPr/>
        </p:nvSpPr>
        <p:spPr>
          <a:xfrm>
            <a:off x="10153892" y="2937882"/>
            <a:ext cx="755202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배달 기사를 위한 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T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 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map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 연동 시스템</a:t>
            </a:r>
            <a:endParaRPr lang="en-US" altLang="ko-KR" sz="2000" b="1" dirty="0">
              <a:latin typeface="+mn-ea"/>
              <a:cs typeface="Nanum Square"/>
              <a:sym typeface="Nanum Square"/>
            </a:endParaRPr>
          </a:p>
          <a:p>
            <a:pPr algn="just">
              <a:lnSpc>
                <a:spcPts val="3600"/>
              </a:lnSpc>
            </a:pP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다른 배달 사이트와 유사한 구조를 통해 접근성 강화</a:t>
            </a:r>
            <a:endParaRPr lang="en-US" altLang="ko-KR" sz="2000" b="1" dirty="0">
              <a:latin typeface="+mn-ea"/>
              <a:cs typeface="Nanum Square"/>
              <a:sym typeface="Nanum Square"/>
            </a:endParaRPr>
          </a:p>
          <a:p>
            <a:pPr algn="just">
              <a:lnSpc>
                <a:spcPts val="3600"/>
              </a:lnSpc>
            </a:pP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핸즈프리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배송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서비스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시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정확한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도착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예정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시간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제공</a:t>
            </a:r>
            <a:endParaRPr lang="en-US" altLang="ko-KR" sz="2000" b="1" dirty="0">
              <a:latin typeface="+mn-ea"/>
              <a:cs typeface="Nanum Square"/>
              <a:sym typeface="Nanum Square"/>
            </a:endParaRPr>
          </a:p>
          <a:p>
            <a:pPr algn="just">
              <a:lnSpc>
                <a:spcPts val="3600"/>
              </a:lnSpc>
            </a:pP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고해상도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백터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지도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기반의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빠르고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매끄러운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모바일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렌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더링</a:t>
            </a:r>
            <a:endParaRPr lang="en-US" altLang="ko-KR" sz="2000" b="1" dirty="0">
              <a:latin typeface="+mn-ea"/>
              <a:cs typeface="Nanum Square"/>
              <a:sym typeface="Nanum Square"/>
            </a:endParaRPr>
          </a:p>
        </p:txBody>
      </p:sp>
      <p:sp>
        <p:nvSpPr>
          <p:cNvPr id="38" name="TextBox 32"/>
          <p:cNvSpPr txBox="1"/>
          <p:nvPr/>
        </p:nvSpPr>
        <p:spPr>
          <a:xfrm>
            <a:off x="1363685" y="7034454"/>
            <a:ext cx="7271261" cy="1784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복잡한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인증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절차를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생략한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생체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인식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기반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원터치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결제</a:t>
            </a:r>
            <a:endParaRPr lang="en-US" altLang="ko-KR" sz="2000" b="1" dirty="0">
              <a:latin typeface="+mn-ea"/>
              <a:cs typeface="Nanum Square"/>
              <a:sym typeface="Nanum Square"/>
            </a:endParaRPr>
          </a:p>
          <a:p>
            <a:pPr>
              <a:lnSpc>
                <a:spcPts val="3600"/>
              </a:lnSpc>
            </a:pP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직관적이고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간결한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UI/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UX를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통한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장바구니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결제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이탈률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최소화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시중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대부분의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은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행 계</a:t>
            </a:r>
            <a:r>
              <a:rPr lang="ko-KR" altLang="en-US" sz="2000" b="1" dirty="0">
                <a:latin typeface="+mn-ea"/>
                <a:cs typeface="Nanum Square"/>
                <a:sym typeface="Nanum Square"/>
              </a:rPr>
              <a:t>좌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및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카드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연동을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통한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범범성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확보</a:t>
            </a:r>
            <a:endParaRPr lang="en-US" altLang="ko-KR" sz="2000" b="1" dirty="0">
              <a:latin typeface="+mn-ea"/>
              <a:cs typeface="Nanum Square"/>
              <a:sym typeface="Nanum Square"/>
            </a:endParaRPr>
          </a:p>
          <a:p>
            <a:pPr>
              <a:lnSpc>
                <a:spcPts val="3600"/>
              </a:lnSpc>
            </a:pP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강력한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이상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거래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탐지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(FDS)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시스템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기반의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안전한</a:t>
            </a:r>
            <a:r>
              <a:rPr lang="en-US" altLang="ko-KR" sz="2000" b="1" dirty="0">
                <a:latin typeface="+mn-ea"/>
                <a:cs typeface="Nanum Square"/>
                <a:sym typeface="Nanum Square"/>
              </a:rPr>
              <a:t> </a:t>
            </a:r>
            <a:r>
              <a:rPr lang="en-US" altLang="ko-KR" sz="2000" b="1" dirty="0" err="1">
                <a:latin typeface="+mn-ea"/>
                <a:cs typeface="Nanum Square"/>
                <a:sym typeface="Nanum Square"/>
              </a:rPr>
              <a:t>보안망</a:t>
            </a:r>
            <a:endParaRPr lang="en-US" altLang="ko-KR" sz="2000" b="1" dirty="0">
              <a:latin typeface="+mn-ea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6">
            <a:extLst>
              <a:ext uri="{FF2B5EF4-FFF2-40B4-BE49-F238E27FC236}">
                <a16:creationId xmlns:a16="http://schemas.microsoft.com/office/drawing/2014/main" id="{1C4D57C8-2697-A0D6-6D8A-65B26D475519}"/>
              </a:ext>
            </a:extLst>
          </p:cNvPr>
          <p:cNvGrpSpPr>
            <a:grpSpLocks noChangeAspect="1"/>
          </p:cNvGrpSpPr>
          <p:nvPr/>
        </p:nvGrpSpPr>
        <p:grpSpPr>
          <a:xfrm>
            <a:off x="726961" y="1800225"/>
            <a:ext cx="5410052" cy="7772400"/>
            <a:chOff x="0" y="0"/>
            <a:chExt cx="7213402" cy="10363200"/>
          </a:xfrm>
        </p:grpSpPr>
        <p:sp>
          <p:nvSpPr>
            <p:cNvPr id="76" name="Freeform 7" descr="preencoded.png">
              <a:extLst>
                <a:ext uri="{FF2B5EF4-FFF2-40B4-BE49-F238E27FC236}">
                  <a16:creationId xmlns:a16="http://schemas.microsoft.com/office/drawing/2014/main" id="{8A9D6B31-AE6E-AA45-39AB-CEFC4B008AE2}"/>
                </a:ext>
              </a:extLst>
            </p:cNvPr>
            <p:cNvSpPr/>
            <p:nvPr/>
          </p:nvSpPr>
          <p:spPr>
            <a:xfrm>
              <a:off x="0" y="0"/>
              <a:ext cx="7213346" cy="10363200"/>
            </a:xfrm>
            <a:custGeom>
              <a:avLst/>
              <a:gdLst/>
              <a:ahLst/>
              <a:cxnLst/>
              <a:rect l="l" t="t" r="r" b="b"/>
              <a:pathLst>
                <a:path w="7213346" h="10363200">
                  <a:moveTo>
                    <a:pt x="0" y="0"/>
                  </a:moveTo>
                  <a:lnTo>
                    <a:pt x="7213346" y="0"/>
                  </a:lnTo>
                  <a:lnTo>
                    <a:pt x="7213346" y="10363200"/>
                  </a:lnTo>
                  <a:lnTo>
                    <a:pt x="0" y="1036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85" name="Group 24">
            <a:extLst>
              <a:ext uri="{FF2B5EF4-FFF2-40B4-BE49-F238E27FC236}">
                <a16:creationId xmlns:a16="http://schemas.microsoft.com/office/drawing/2014/main" id="{48DA21E7-76CE-F005-3FBD-4736001264ED}"/>
              </a:ext>
            </a:extLst>
          </p:cNvPr>
          <p:cNvGrpSpPr>
            <a:grpSpLocks noChangeAspect="1"/>
          </p:cNvGrpSpPr>
          <p:nvPr/>
        </p:nvGrpSpPr>
        <p:grpSpPr>
          <a:xfrm>
            <a:off x="1049613" y="7701132"/>
            <a:ext cx="4724252" cy="1143000"/>
            <a:chOff x="0" y="0"/>
            <a:chExt cx="6299002" cy="1524000"/>
          </a:xfrm>
        </p:grpSpPr>
        <p:sp>
          <p:nvSpPr>
            <p:cNvPr id="87" name="Freeform 25" descr="preencoded.png">
              <a:extLst>
                <a:ext uri="{FF2B5EF4-FFF2-40B4-BE49-F238E27FC236}">
                  <a16:creationId xmlns:a16="http://schemas.microsoft.com/office/drawing/2014/main" id="{A28F335A-717F-1628-6564-3F0A3A2D8011}"/>
                </a:ext>
              </a:extLst>
            </p:cNvPr>
            <p:cNvSpPr/>
            <p:nvPr/>
          </p:nvSpPr>
          <p:spPr>
            <a:xfrm>
              <a:off x="0" y="0"/>
              <a:ext cx="6298946" cy="1524000"/>
            </a:xfrm>
            <a:custGeom>
              <a:avLst/>
              <a:gdLst/>
              <a:ahLst/>
              <a:cxnLst/>
              <a:rect l="l" t="t" r="r" b="b"/>
              <a:pathLst>
                <a:path w="6298946" h="1524000">
                  <a:moveTo>
                    <a:pt x="0" y="0"/>
                  </a:moveTo>
                  <a:lnTo>
                    <a:pt x="6298946" y="0"/>
                  </a:lnTo>
                  <a:lnTo>
                    <a:pt x="6298946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10107" y="2216944"/>
            <a:ext cx="428625" cy="342900"/>
            <a:chOff x="0" y="0"/>
            <a:chExt cx="571500" cy="4572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" y="3000645"/>
            <a:ext cx="514350" cy="514350"/>
            <a:chOff x="0" y="0"/>
            <a:chExt cx="685800" cy="6858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1588" y="3057795"/>
            <a:ext cx="257175" cy="399831"/>
            <a:chOff x="0" y="0"/>
            <a:chExt cx="342900" cy="53310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342900" cy="533146"/>
            </a:xfrm>
            <a:custGeom>
              <a:avLst/>
              <a:gdLst/>
              <a:ahLst/>
              <a:cxnLst/>
              <a:rect l="l" t="t" r="r" b="b"/>
              <a:pathLst>
                <a:path w="342900" h="533146">
                  <a:moveTo>
                    <a:pt x="0" y="0"/>
                  </a:moveTo>
                  <a:lnTo>
                    <a:pt x="342900" y="0"/>
                  </a:lnTo>
                  <a:lnTo>
                    <a:pt x="342900" y="533146"/>
                  </a:lnTo>
                  <a:lnTo>
                    <a:pt x="0" y="533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b="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4293731"/>
            <a:ext cx="514350" cy="514350"/>
            <a:chOff x="0" y="0"/>
            <a:chExt cx="685800" cy="685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1690" y="4348421"/>
            <a:ext cx="357188" cy="400050"/>
            <a:chOff x="53479" y="-3280"/>
            <a:chExt cx="476250" cy="533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53479" y="-3280"/>
              <a:ext cx="476250" cy="533400"/>
            </a:xfrm>
            <a:custGeom>
              <a:avLst/>
              <a:gdLst/>
              <a:ahLst/>
              <a:cxnLst/>
              <a:rect l="l" t="t" r="r" b="b"/>
              <a:pathLst>
                <a:path w="476250" h="53340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9634" y="7134552"/>
            <a:ext cx="285750" cy="285750"/>
            <a:chOff x="0" y="0"/>
            <a:chExt cx="381000" cy="3810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21084" y="7909333"/>
            <a:ext cx="228600" cy="228600"/>
            <a:chOff x="0" y="0"/>
            <a:chExt cx="304800" cy="3048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1084" y="8371908"/>
            <a:ext cx="228600" cy="228600"/>
            <a:chOff x="0" y="0"/>
            <a:chExt cx="304800" cy="3048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38748" y="1800225"/>
            <a:ext cx="11163452" cy="7772400"/>
            <a:chOff x="0" y="0"/>
            <a:chExt cx="14884603" cy="103632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4884654" cy="10363200"/>
            </a:xfrm>
            <a:custGeom>
              <a:avLst/>
              <a:gdLst/>
              <a:ahLst/>
              <a:cxnLst/>
              <a:rect l="l" t="t" r="r" b="b"/>
              <a:pathLst>
                <a:path w="14884654" h="10363200">
                  <a:moveTo>
                    <a:pt x="0" y="0"/>
                  </a:moveTo>
                  <a:lnTo>
                    <a:pt x="14884654" y="0"/>
                  </a:lnTo>
                  <a:lnTo>
                    <a:pt x="14884654" y="10363200"/>
                  </a:lnTo>
                  <a:lnTo>
                    <a:pt x="0" y="1036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43000" y="5666419"/>
            <a:ext cx="514350" cy="514350"/>
            <a:chOff x="0" y="0"/>
            <a:chExt cx="685800" cy="685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1581" y="5723569"/>
            <a:ext cx="357188" cy="400050"/>
            <a:chOff x="0" y="0"/>
            <a:chExt cx="476250" cy="533400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476250" cy="533400"/>
            </a:xfrm>
            <a:custGeom>
              <a:avLst/>
              <a:gdLst/>
              <a:ahLst/>
              <a:cxnLst/>
              <a:rect l="l" t="t" r="r" b="b"/>
              <a:pathLst>
                <a:path w="476250" h="53340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685925" y="2149996"/>
            <a:ext cx="2619375" cy="45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700" dirty="0" err="1">
                <a:latin typeface="Noto Sans"/>
                <a:ea typeface="Noto Sans"/>
                <a:cs typeface="Noto Sans"/>
                <a:sym typeface="Noto Sans"/>
              </a:rPr>
              <a:t>팀원</a:t>
            </a:r>
            <a:r>
              <a:rPr lang="en-US" sz="2700" b="1" dirty="0"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700" dirty="0" err="1">
                <a:latin typeface="Noto Sans"/>
                <a:ea typeface="Noto Sans"/>
                <a:cs typeface="Noto Sans"/>
                <a:sym typeface="Noto Sans"/>
              </a:rPr>
              <a:t>역할</a:t>
            </a:r>
            <a:r>
              <a:rPr lang="en-US" sz="2700" b="1" dirty="0"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700" dirty="0" err="1">
                <a:latin typeface="Noto Sans"/>
                <a:ea typeface="Noto Sans"/>
                <a:cs typeface="Noto Sans"/>
                <a:sym typeface="Noto Sans"/>
              </a:rPr>
              <a:t>분담</a:t>
            </a:r>
            <a:endParaRPr lang="en-US" sz="27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857373" y="5753614"/>
            <a:ext cx="427959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ko-KR" altLang="en-US" dirty="0">
                <a:latin typeface="+mn-ea"/>
                <a:cs typeface="Noto Sans"/>
                <a:sym typeface="Noto Sans"/>
              </a:rPr>
              <a:t>이승재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:</a:t>
            </a:r>
            <a:r>
              <a:rPr lang="ko-KR" altLang="en-US" dirty="0" err="1">
                <a:latin typeface="+mn-ea"/>
                <a:cs typeface="Noto Sans"/>
                <a:sym typeface="Noto Sans"/>
              </a:rPr>
              <a:t>뷰페이지</a:t>
            </a:r>
            <a:r>
              <a:rPr lang="ko-KR" altLang="en-US" dirty="0">
                <a:latin typeface="+mn-ea"/>
                <a:cs typeface="Noto Sans"/>
                <a:sym typeface="Noto Sans"/>
              </a:rPr>
              <a:t> 개발 및 </a:t>
            </a:r>
            <a:r>
              <a:rPr lang="en-US" sz="1800" dirty="0">
                <a:latin typeface="+mn-ea"/>
                <a:cs typeface="Noto Sans"/>
                <a:sym typeface="Noto Sans"/>
              </a:rPr>
              <a:t>API </a:t>
            </a:r>
            <a:r>
              <a:rPr lang="ko-KR" altLang="en-US" sz="1800" dirty="0">
                <a:latin typeface="+mn-ea"/>
                <a:cs typeface="Noto Sans"/>
                <a:sym typeface="Noto Sans"/>
              </a:rPr>
              <a:t>연동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(30%)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latin typeface="+mn-ea"/>
                <a:cs typeface="Noto Sans"/>
                <a:sym typeface="Noto Sans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578769" y="7796540"/>
            <a:ext cx="4080965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 b="1" dirty="0" err="1">
                <a:latin typeface="+mn-ea"/>
                <a:cs typeface="Noto Sans"/>
                <a:sym typeface="Noto Sans"/>
              </a:rPr>
              <a:t>기본</a:t>
            </a:r>
            <a:r>
              <a:rPr lang="en-US" sz="1800" b="1" dirty="0">
                <a:latin typeface="+mn-ea"/>
                <a:cs typeface="Noto Sans"/>
                <a:sym typeface="Noto Sans"/>
              </a:rPr>
              <a:t> </a:t>
            </a:r>
            <a:r>
              <a:rPr lang="en-US" sz="1800" b="1" dirty="0" err="1">
                <a:latin typeface="+mn-ea"/>
                <a:cs typeface="Noto Sans"/>
                <a:sym typeface="Noto Sans"/>
              </a:rPr>
              <a:t>서비스</a:t>
            </a:r>
            <a:r>
              <a:rPr lang="en-US" sz="1800" b="1" dirty="0">
                <a:latin typeface="+mn-ea"/>
                <a:cs typeface="Noto Sans"/>
                <a:sym typeface="Noto Sans"/>
              </a:rPr>
              <a:t> </a:t>
            </a:r>
            <a:r>
              <a:rPr lang="en-US" sz="1800" b="1" dirty="0" err="1">
                <a:latin typeface="+mn-ea"/>
                <a:cs typeface="Noto Sans"/>
                <a:sym typeface="Noto Sans"/>
              </a:rPr>
              <a:t>계획</a:t>
            </a:r>
            <a:r>
              <a:rPr lang="en-US" sz="1800" b="1" dirty="0">
                <a:latin typeface="+mn-ea"/>
                <a:cs typeface="Noto Sans"/>
                <a:sym typeface="Noto Sans"/>
              </a:rPr>
              <a:t> </a:t>
            </a:r>
            <a:r>
              <a:rPr lang="en-US" sz="1800" b="1" dirty="0" err="1">
                <a:latin typeface="+mn-ea"/>
                <a:cs typeface="Noto Sans"/>
                <a:sym typeface="Noto Sans"/>
              </a:rPr>
              <a:t>수립</a:t>
            </a:r>
            <a:r>
              <a:rPr lang="en-US" sz="1800" b="1" dirty="0">
                <a:latin typeface="+mn-ea"/>
                <a:cs typeface="Noto Sans"/>
                <a:sym typeface="Noto Sans"/>
              </a:rPr>
              <a:t>, </a:t>
            </a:r>
            <a:r>
              <a:rPr lang="en-US" sz="1800" b="1" dirty="0" err="1">
                <a:latin typeface="+mn-ea"/>
                <a:cs typeface="Noto Sans"/>
                <a:sym typeface="Noto Sans"/>
              </a:rPr>
              <a:t>인터페이스</a:t>
            </a:r>
            <a:r>
              <a:rPr lang="en-US" sz="1800" b="1" dirty="0">
                <a:latin typeface="+mn-ea"/>
                <a:cs typeface="Noto Sans"/>
                <a:sym typeface="Noto Sans"/>
              </a:rPr>
              <a:t> </a:t>
            </a:r>
            <a:r>
              <a:rPr lang="en-US" sz="1800" b="1" err="1">
                <a:latin typeface="+mn-ea"/>
                <a:cs typeface="Noto Sans"/>
                <a:sym typeface="Noto Sans"/>
              </a:rPr>
              <a:t>개발</a:t>
            </a:r>
            <a:r>
              <a:rPr lang="en-US" sz="1800" b="1">
                <a:latin typeface="+mn-ea"/>
                <a:cs typeface="Noto Sans"/>
                <a:sym typeface="Noto Sans"/>
              </a:rPr>
              <a:t> </a:t>
            </a:r>
            <a:r>
              <a:rPr lang="ko-KR" altLang="en-US" b="1">
                <a:latin typeface="+mn-ea"/>
                <a:cs typeface="Noto Sans"/>
                <a:sym typeface="Noto Sans"/>
              </a:rPr>
              <a:t>앱</a:t>
            </a:r>
            <a:r>
              <a:rPr lang="en-US" sz="1800" b="1">
                <a:latin typeface="+mn-ea"/>
                <a:cs typeface="Noto Sans"/>
                <a:sym typeface="Noto Sans"/>
              </a:rPr>
              <a:t> </a:t>
            </a:r>
            <a:r>
              <a:rPr lang="en-US" sz="1800" b="1" dirty="0" err="1">
                <a:latin typeface="+mn-ea"/>
                <a:cs typeface="Noto Sans"/>
                <a:sym typeface="Noto Sans"/>
              </a:rPr>
              <a:t>개발</a:t>
            </a:r>
            <a:r>
              <a:rPr lang="en-US" sz="1800" b="1" dirty="0">
                <a:latin typeface="+mn-ea"/>
                <a:cs typeface="Noto Sans"/>
                <a:sym typeface="Noto Sans"/>
              </a:rPr>
              <a:t> </a:t>
            </a:r>
            <a:r>
              <a:rPr lang="en-US" sz="1800" b="1" dirty="0" err="1">
                <a:latin typeface="+mn-ea"/>
                <a:cs typeface="Noto Sans"/>
                <a:sym typeface="Noto Sans"/>
              </a:rPr>
              <a:t>완료</a:t>
            </a:r>
            <a:r>
              <a:rPr lang="en-US" sz="1800" b="1" dirty="0">
                <a:latin typeface="+mn-ea"/>
                <a:cs typeface="Noto Sans"/>
                <a:sym typeface="Noto Sans"/>
              </a:rPr>
              <a:t>, </a:t>
            </a:r>
            <a:r>
              <a:rPr lang="en-US" sz="1800" b="1" err="1">
                <a:latin typeface="+mn-ea"/>
                <a:cs typeface="Noto Sans"/>
                <a:sym typeface="Noto Sans"/>
              </a:rPr>
              <a:t>최종</a:t>
            </a:r>
            <a:r>
              <a:rPr lang="en-US" sz="1800" b="1">
                <a:latin typeface="+mn-ea"/>
                <a:cs typeface="Noto Sans"/>
                <a:sym typeface="Noto Sans"/>
              </a:rPr>
              <a:t> 완성</a:t>
            </a:r>
            <a:endParaRPr lang="en-US" sz="1800" b="1" dirty="0">
              <a:latin typeface="+mn-ea"/>
              <a:cs typeface="Noto Sans"/>
              <a:sym typeface="Noto Sans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449684" y="7097538"/>
            <a:ext cx="2076450" cy="370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300" b="1" dirty="0"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300" dirty="0" err="1">
                <a:latin typeface="Noto Sans"/>
                <a:ea typeface="Noto Sans"/>
                <a:cs typeface="Noto Sans"/>
                <a:sym typeface="Noto Sans"/>
              </a:rPr>
              <a:t>프로젝트</a:t>
            </a:r>
            <a:r>
              <a:rPr lang="en-US" sz="2300" b="1" dirty="0"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300" dirty="0" err="1">
                <a:latin typeface="Noto Sans"/>
                <a:ea typeface="Noto Sans"/>
                <a:cs typeface="Noto Sans"/>
                <a:sym typeface="Noto Sans"/>
              </a:rPr>
              <a:t>목표</a:t>
            </a:r>
            <a:endParaRPr lang="en-US" sz="23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TextBox 19">
            <a:extLst>
              <a:ext uri="{FF2B5EF4-FFF2-40B4-BE49-F238E27FC236}">
                <a16:creationId xmlns:a16="http://schemas.microsoft.com/office/drawing/2014/main" id="{E9181DCA-5258-FFB3-E79F-F1D22149D8CF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13/17</a:t>
            </a:r>
          </a:p>
        </p:txBody>
      </p:sp>
      <p:grpSp>
        <p:nvGrpSpPr>
          <p:cNvPr id="96" name="Group 4">
            <a:extLst>
              <a:ext uri="{FF2B5EF4-FFF2-40B4-BE49-F238E27FC236}">
                <a16:creationId xmlns:a16="http://schemas.microsoft.com/office/drawing/2014/main" id="{3FE43A9D-D306-F1DC-C30D-2EC856034219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97" name="Freeform 5" descr="preencoded.png">
              <a:extLst>
                <a:ext uri="{FF2B5EF4-FFF2-40B4-BE49-F238E27FC236}">
                  <a16:creationId xmlns:a16="http://schemas.microsoft.com/office/drawing/2014/main" id="{9B198B23-9532-E0F1-207D-02A558FEE5DF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8" name="TextBox 13">
            <a:extLst>
              <a:ext uri="{FF2B5EF4-FFF2-40B4-BE49-F238E27FC236}">
                <a16:creationId xmlns:a16="http://schemas.microsoft.com/office/drawing/2014/main" id="{B6953024-E37D-A696-AD47-90A92D6F3C4F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추진 일정 및 역할 분담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9C68FC-E6CD-2D66-184A-E31682E9F1C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862" y="2019300"/>
            <a:ext cx="10434479" cy="7128900"/>
          </a:xfrm>
          <a:prstGeom prst="rect">
            <a:avLst/>
          </a:prstGeom>
        </p:spPr>
      </p:pic>
      <p:sp>
        <p:nvSpPr>
          <p:cNvPr id="39" name="TextBox 82"/>
          <p:cNvSpPr txBox="1"/>
          <p:nvPr/>
        </p:nvSpPr>
        <p:spPr>
          <a:xfrm>
            <a:off x="1873713" y="4445238"/>
            <a:ext cx="4279595" cy="611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altLang="ko-KR" dirty="0" err="1">
                <a:latin typeface="+mn-ea"/>
                <a:cs typeface="Noto Sans"/>
                <a:sym typeface="Noto Sans"/>
              </a:rPr>
              <a:t>배준혁</a:t>
            </a:r>
            <a:r>
              <a:rPr lang="en-US" altLang="ko-KR" b="1" dirty="0" err="1">
                <a:latin typeface="+mn-ea"/>
                <a:cs typeface="Noto Sans Bold"/>
                <a:sym typeface="Noto Sans Bold"/>
              </a:rPr>
              <a:t>:</a:t>
            </a:r>
            <a:r>
              <a:rPr lang="en-US" altLang="ko-KR" dirty="0" err="1">
                <a:latin typeface="+mn-ea"/>
                <a:cs typeface="Noto Sans"/>
                <a:sym typeface="Noto Sans"/>
              </a:rPr>
              <a:t>백엔드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dirty="0" err="1">
                <a:latin typeface="+mn-ea"/>
                <a:cs typeface="Noto Sans"/>
                <a:sym typeface="Noto Sans"/>
              </a:rPr>
              <a:t>기반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dirty="0" err="1">
                <a:latin typeface="+mn-ea"/>
                <a:cs typeface="Noto Sans"/>
                <a:sym typeface="Noto Sans"/>
              </a:rPr>
              <a:t>설계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 및 </a:t>
            </a:r>
            <a:r>
              <a:rPr lang="en-US" altLang="ko-KR" dirty="0" err="1">
                <a:latin typeface="+mn-ea"/>
                <a:cs typeface="Noto Sans"/>
                <a:sym typeface="Noto Sans"/>
              </a:rPr>
              <a:t>개발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(40%)</a:t>
            </a:r>
          </a:p>
          <a:p>
            <a:pPr>
              <a:lnSpc>
                <a:spcPts val="2520"/>
              </a:lnSpc>
            </a:pPr>
            <a:endParaRPr lang="en-US" altLang="ko-KR" dirty="0">
              <a:latin typeface="+mn-ea"/>
              <a:cs typeface="Noto Sans"/>
              <a:sym typeface="Noto Sans"/>
            </a:endParaRPr>
          </a:p>
        </p:txBody>
      </p:sp>
      <p:sp>
        <p:nvSpPr>
          <p:cNvPr id="40" name="TextBox 82"/>
          <p:cNvSpPr txBox="1"/>
          <p:nvPr/>
        </p:nvSpPr>
        <p:spPr>
          <a:xfrm>
            <a:off x="1857373" y="3102328"/>
            <a:ext cx="4279595" cy="611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altLang="ko-KR" dirty="0" err="1">
                <a:latin typeface="+mn-ea"/>
                <a:cs typeface="Noto Sans"/>
                <a:sym typeface="Noto Sans"/>
              </a:rPr>
              <a:t>김대현</a:t>
            </a:r>
            <a:r>
              <a:rPr lang="en-US" altLang="ko-KR" b="1" dirty="0" err="1">
                <a:latin typeface="+mn-ea"/>
                <a:cs typeface="Noto Sans Bold"/>
                <a:sym typeface="Noto Sans Bold"/>
              </a:rPr>
              <a:t>:</a:t>
            </a:r>
            <a:r>
              <a:rPr lang="en-US" altLang="ko-KR" dirty="0" err="1">
                <a:latin typeface="+mn-ea"/>
                <a:cs typeface="Noto Sans"/>
                <a:sym typeface="Noto Sans"/>
              </a:rPr>
              <a:t>프론트엔드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 </a:t>
            </a:r>
            <a:r>
              <a:rPr lang="en-US" altLang="ko-KR" dirty="0" err="1">
                <a:latin typeface="+mn-ea"/>
                <a:cs typeface="Noto Sans"/>
                <a:sym typeface="Noto Sans"/>
              </a:rPr>
              <a:t>개발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 및 </a:t>
            </a:r>
            <a:r>
              <a:rPr lang="en-US" altLang="ko-KR" dirty="0" err="1">
                <a:latin typeface="+mn-ea"/>
                <a:cs typeface="Noto Sans"/>
                <a:sym typeface="Noto Sans"/>
              </a:rPr>
              <a:t>총괄</a:t>
            </a:r>
            <a:r>
              <a:rPr lang="en-US" altLang="ko-KR" dirty="0">
                <a:latin typeface="+mn-ea"/>
                <a:cs typeface="Noto Sans"/>
                <a:sym typeface="Noto Sans"/>
              </a:rPr>
              <a:t>(30%)</a:t>
            </a:r>
          </a:p>
          <a:p>
            <a:pPr>
              <a:lnSpc>
                <a:spcPts val="2520"/>
              </a:lnSpc>
            </a:pPr>
            <a:endParaRPr lang="en-US" altLang="ko-KR" dirty="0">
              <a:latin typeface="+mn-ea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9B9A8-C4DD-3A8D-19E7-8FC56AEB6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3061FA92-F115-296C-AF22-5CE01C499023}"/>
              </a:ext>
            </a:extLst>
          </p:cNvPr>
          <p:cNvSpPr txBox="1"/>
          <p:nvPr/>
        </p:nvSpPr>
        <p:spPr>
          <a:xfrm>
            <a:off x="10303496" y="2414036"/>
            <a:ext cx="1264056" cy="37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 dirty="0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상품관리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0D8966E-42C1-C789-CFD7-E8E8924C6AC7}"/>
              </a:ext>
            </a:extLst>
          </p:cNvPr>
          <p:cNvSpPr txBox="1"/>
          <p:nvPr/>
        </p:nvSpPr>
        <p:spPr>
          <a:xfrm>
            <a:off x="14549265" y="2414036"/>
            <a:ext cx="2263890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 dirty="0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프로모션 관리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E58A0BE8-0FEE-9F90-6D25-748C5B6C2B5E}"/>
              </a:ext>
            </a:extLst>
          </p:cNvPr>
          <p:cNvSpPr txBox="1"/>
          <p:nvPr/>
        </p:nvSpPr>
        <p:spPr>
          <a:xfrm>
            <a:off x="1378314" y="2420505"/>
            <a:ext cx="2089340" cy="369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 dirty="0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매장등록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3AB7FEE0-4B8F-CE38-7BE8-823EB1B007A3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14/17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0608AB14-4C07-B241-A4CB-09BDE5F7C4EA}"/>
              </a:ext>
            </a:extLst>
          </p:cNvPr>
          <p:cNvSpPr txBox="1"/>
          <p:nvPr/>
        </p:nvSpPr>
        <p:spPr>
          <a:xfrm>
            <a:off x="5055383" y="2425948"/>
            <a:ext cx="2873484" cy="369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 dirty="0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이벤트 등록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7C54C27-4C08-7D3B-9D7C-BB2AF4DED902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14" name="Freeform 5" descr="preencoded.png">
              <a:extLst>
                <a:ext uri="{FF2B5EF4-FFF2-40B4-BE49-F238E27FC236}">
                  <a16:creationId xmlns:a16="http://schemas.microsoft.com/office/drawing/2014/main" id="{96EF0882-E9A7-84C8-F051-4AF2C24640AD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13">
            <a:extLst>
              <a:ext uri="{FF2B5EF4-FFF2-40B4-BE49-F238E27FC236}">
                <a16:creationId xmlns:a16="http://schemas.microsoft.com/office/drawing/2014/main" id="{EA1789EC-AFCF-2EC3-10FA-140580791E6E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 시연</a:t>
            </a:r>
            <a:r>
              <a:rPr lang="en-US" altLang="ko-KR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4000" b="1" spc="180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관리자웹</a:t>
            </a:r>
            <a:r>
              <a:rPr lang="en-US" altLang="ko-KR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D97423E-A256-3065-8D23-597060A8AD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2" t="2477" r="1344" b="1817"/>
          <a:stretch>
            <a:fillRect/>
          </a:stretch>
        </p:blipFill>
        <p:spPr>
          <a:xfrm>
            <a:off x="831659" y="3009900"/>
            <a:ext cx="3124580" cy="5486400"/>
          </a:xfrm>
          <a:prstGeom prst="rect">
            <a:avLst/>
          </a:prstGeom>
          <a:ln w="38100">
            <a:solidFill>
              <a:srgbClr val="D4A853"/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A0A36DB-7A06-CB6D-57CF-9F1734622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48" r="43944"/>
          <a:stretch>
            <a:fillRect/>
          </a:stretch>
        </p:blipFill>
        <p:spPr>
          <a:xfrm>
            <a:off x="4989411" y="3009900"/>
            <a:ext cx="3005428" cy="5486400"/>
          </a:xfrm>
          <a:prstGeom prst="rect">
            <a:avLst/>
          </a:prstGeom>
          <a:ln w="38100">
            <a:solidFill>
              <a:srgbClr val="D4A853"/>
            </a:solidFill>
          </a:ln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56F3D28-3C58-12EF-EBB2-DC6F25050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009900"/>
            <a:ext cx="4497448" cy="5486400"/>
          </a:xfrm>
          <a:prstGeom prst="rect">
            <a:avLst/>
          </a:prstGeom>
          <a:ln w="38100">
            <a:solidFill>
              <a:srgbClr val="D4A853"/>
            </a:solidFill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0C2FBFC-4D2E-E770-117E-F58832083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6210" y="3015343"/>
            <a:ext cx="3610001" cy="5486400"/>
          </a:xfrm>
          <a:prstGeom prst="rect">
            <a:avLst/>
          </a:prstGeom>
          <a:ln w="38100">
            <a:solidFill>
              <a:srgbClr val="D4A853"/>
            </a:solidFill>
          </a:ln>
        </p:spPr>
      </p:pic>
    </p:spTree>
    <p:extLst>
      <p:ext uri="{BB962C8B-B14F-4D97-AF65-F5344CB8AC3E}">
        <p14:creationId xmlns:p14="http://schemas.microsoft.com/office/powerpoint/2010/main" val="184929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65A639D-1A94-7D16-8F01-AF5ADDEE0A8E}"/>
              </a:ext>
            </a:extLst>
          </p:cNvPr>
          <p:cNvSpPr/>
          <p:nvPr/>
        </p:nvSpPr>
        <p:spPr>
          <a:xfrm>
            <a:off x="8543902" y="5346466"/>
            <a:ext cx="809814" cy="4180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155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310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465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6620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0775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4930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390859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3241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44E13E9B-0F02-6E36-99CF-326B10F47B5A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15/17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1EC8FB6-F0B2-3DE3-D499-E86CB6C6A84A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14" name="Freeform 5" descr="preencoded.png">
              <a:extLst>
                <a:ext uri="{FF2B5EF4-FFF2-40B4-BE49-F238E27FC236}">
                  <a16:creationId xmlns:a16="http://schemas.microsoft.com/office/drawing/2014/main" id="{FBCA396A-7905-16B5-70EE-1FE999EE9A50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5" name="TextBox 13">
            <a:extLst>
              <a:ext uri="{FF2B5EF4-FFF2-40B4-BE49-F238E27FC236}">
                <a16:creationId xmlns:a16="http://schemas.microsoft.com/office/drawing/2014/main" id="{CE80BE09-56DD-74CC-D796-B1706CC96F33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 시연</a:t>
            </a:r>
            <a:r>
              <a:rPr lang="en-US" altLang="ko-KR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직원용 앱</a:t>
            </a:r>
            <a:r>
              <a:rPr lang="en-US" altLang="ko-KR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F4338741-854E-A11A-8DD8-FBC105F981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61" y="2847373"/>
            <a:ext cx="2288528" cy="4841843"/>
          </a:xfrm>
          <a:prstGeom prst="round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0901DDE8-53BE-90C2-3937-F2DC1AE77C6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177" y="2847373"/>
            <a:ext cx="2240042" cy="4859751"/>
          </a:xfrm>
          <a:prstGeom prst="round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E12AEB-4FE0-1543-5E62-D5C4631E6B5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736" y="2857498"/>
            <a:ext cx="2231787" cy="4838158"/>
          </a:xfrm>
          <a:prstGeom prst="round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993F0A62-164F-F428-4B96-729D1CAC9D0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2390" y="2857498"/>
            <a:ext cx="2240042" cy="4742548"/>
          </a:xfrm>
          <a:prstGeom prst="roundRect">
            <a:avLst/>
          </a:prstGeom>
        </p:spPr>
      </p:pic>
      <p:sp>
        <p:nvSpPr>
          <p:cNvPr id="32" name="TextBox 15">
            <a:extLst>
              <a:ext uri="{FF2B5EF4-FFF2-40B4-BE49-F238E27FC236}">
                <a16:creationId xmlns:a16="http://schemas.microsoft.com/office/drawing/2014/main" id="{993ABD36-2D72-9CF4-B0A0-D5DF86B5F96C}"/>
              </a:ext>
            </a:extLst>
          </p:cNvPr>
          <p:cNvSpPr txBox="1"/>
          <p:nvPr/>
        </p:nvSpPr>
        <p:spPr>
          <a:xfrm>
            <a:off x="2211224" y="8089145"/>
            <a:ext cx="2135948" cy="369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카테고리</a:t>
            </a:r>
            <a:endParaRPr lang="en-US" altLang="ko-KR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19AC157E-0AD2-3F4D-57C0-AEFA3E177500}"/>
              </a:ext>
            </a:extLst>
          </p:cNvPr>
          <p:cNvSpPr txBox="1"/>
          <p:nvPr/>
        </p:nvSpPr>
        <p:spPr>
          <a:xfrm>
            <a:off x="9921257" y="8089145"/>
            <a:ext cx="2135948" cy="369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태그발행</a:t>
            </a:r>
            <a:endParaRPr lang="en-US" altLang="ko-KR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EF848F90-57BF-3DDE-679F-F0337A4709A8}"/>
              </a:ext>
            </a:extLst>
          </p:cNvPr>
          <p:cNvSpPr txBox="1"/>
          <p:nvPr/>
        </p:nvSpPr>
        <p:spPr>
          <a:xfrm>
            <a:off x="6028875" y="8089145"/>
            <a:ext cx="2135948" cy="369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태그인식</a:t>
            </a:r>
            <a:endParaRPr lang="en-US" altLang="ko-KR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FF886058-BADC-0C51-34AA-2AEE01949E44}"/>
              </a:ext>
            </a:extLst>
          </p:cNvPr>
          <p:cNvSpPr txBox="1"/>
          <p:nvPr/>
        </p:nvSpPr>
        <p:spPr>
          <a:xfrm>
            <a:off x="13815388" y="8089145"/>
            <a:ext cx="2135948" cy="369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배달화면</a:t>
            </a:r>
            <a:endParaRPr lang="en-US" altLang="ko-KR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2E4928D8-9E25-E70D-D533-2CB93E5F10C6}"/>
              </a:ext>
            </a:extLst>
          </p:cNvPr>
          <p:cNvGrpSpPr>
            <a:grpSpLocks noChangeAspect="1"/>
          </p:cNvGrpSpPr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3" name="Freeform 5" descr="preencoded.png">
              <a:extLst>
                <a:ext uri="{FF2B5EF4-FFF2-40B4-BE49-F238E27FC236}">
                  <a16:creationId xmlns:a16="http://schemas.microsoft.com/office/drawing/2014/main" id="{4483FC31-A1D2-18B4-1F17-08F34C2A916F}"/>
                </a:ext>
              </a:extLst>
            </p:cNvPr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13">
            <a:extLst>
              <a:ext uri="{FF2B5EF4-FFF2-40B4-BE49-F238E27FC236}">
                <a16:creationId xmlns:a16="http://schemas.microsoft.com/office/drawing/2014/main" id="{17FA1AD7-5685-E5F5-5017-99AC47E4D844}"/>
              </a:ext>
            </a:extLst>
          </p:cNvPr>
          <p:cNvSpPr txBox="1"/>
          <p:nvPr/>
        </p:nvSpPr>
        <p:spPr>
          <a:xfrm>
            <a:off x="685800" y="748665"/>
            <a:ext cx="16916400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08. </a:t>
            </a:r>
            <a:r>
              <a:rPr lang="ko-KR" altLang="en-US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작품 시연</a:t>
            </a:r>
            <a:r>
              <a:rPr lang="en-US" altLang="ko-KR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4000" b="1" spc="180" dirty="0" err="1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소비자앱</a:t>
            </a:r>
            <a:r>
              <a:rPr lang="en-US" altLang="ko-KR" sz="4000" b="1" spc="180" dirty="0">
                <a:solidFill>
                  <a:srgbClr val="1F293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  <a:endParaRPr lang="en-US" sz="4000" b="1" spc="180" dirty="0">
              <a:solidFill>
                <a:srgbClr val="1F2937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C8CC37D-FF72-822C-2A78-DA42EB1B09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857500"/>
            <a:ext cx="2291197" cy="483950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9CB4782-9993-796A-6C1C-94EDEAC1DD0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32" y="2857498"/>
            <a:ext cx="2291197" cy="483950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C30F06E-02AD-BCF9-E133-565A91837B0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251" y="2857498"/>
            <a:ext cx="2291197" cy="4839503"/>
          </a:xfrm>
          <a:prstGeom prst="rect">
            <a:avLst/>
          </a:prstGeom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A4A498D7-3CEC-D311-BE70-5910C8281561}"/>
              </a:ext>
            </a:extLst>
          </p:cNvPr>
          <p:cNvSpPr/>
          <p:nvPr/>
        </p:nvSpPr>
        <p:spPr>
          <a:xfrm>
            <a:off x="4783117" y="5086750"/>
            <a:ext cx="809814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155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310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465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6620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0775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4930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390859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3241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0F7EE9C-38DC-3708-53FB-D93E209B1E9F}"/>
              </a:ext>
            </a:extLst>
          </p:cNvPr>
          <p:cNvSpPr/>
          <p:nvPr/>
        </p:nvSpPr>
        <p:spPr>
          <a:xfrm>
            <a:off x="8650833" y="5086750"/>
            <a:ext cx="809814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155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310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465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6620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0775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4930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390859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3241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C708F603-6773-903F-3155-6E998CFE3428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16/17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18AB7AE9-858B-AFEF-D069-F04A67EC7631}"/>
              </a:ext>
            </a:extLst>
          </p:cNvPr>
          <p:cNvSpPr txBox="1"/>
          <p:nvPr/>
        </p:nvSpPr>
        <p:spPr>
          <a:xfrm>
            <a:off x="2211224" y="8089145"/>
            <a:ext cx="2135948" cy="359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 dirty="0" err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태그인식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18AB7AE9-858B-AFEF-D069-F04A67EC7631}"/>
              </a:ext>
            </a:extLst>
          </p:cNvPr>
          <p:cNvSpPr txBox="1"/>
          <p:nvPr/>
        </p:nvSpPr>
        <p:spPr>
          <a:xfrm>
            <a:off x="9921257" y="8089145"/>
            <a:ext cx="2135948" cy="359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 dirty="0" err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상품결제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18AB7AE9-858B-AFEF-D069-F04A67EC7631}"/>
              </a:ext>
            </a:extLst>
          </p:cNvPr>
          <p:cNvSpPr txBox="1"/>
          <p:nvPr/>
        </p:nvSpPr>
        <p:spPr>
          <a:xfrm>
            <a:off x="6028875" y="8089145"/>
            <a:ext cx="2135948" cy="359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 dirty="0" err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물품주문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551C1C4-2FAD-F45C-F078-A3C5911F1BE9}"/>
              </a:ext>
            </a:extLst>
          </p:cNvPr>
          <p:cNvSpPr/>
          <p:nvPr/>
        </p:nvSpPr>
        <p:spPr>
          <a:xfrm>
            <a:off x="12568614" y="4991899"/>
            <a:ext cx="809814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155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310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465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66205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0775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49307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390859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32412" algn="l" defTabSz="683102" rtl="0" eaLnBrk="1" latinLnBrk="0" hangingPunct="1">
              <a:defRPr sz="134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357843B5-37E6-7F06-EC03-E828A44C4C93}"/>
              </a:ext>
            </a:extLst>
          </p:cNvPr>
          <p:cNvSpPr txBox="1"/>
          <p:nvPr/>
        </p:nvSpPr>
        <p:spPr>
          <a:xfrm>
            <a:off x="13815388" y="8089145"/>
            <a:ext cx="2135948" cy="369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6"/>
              </a:lnSpc>
            </a:pPr>
            <a:r>
              <a:rPr lang="ko-KR" altLang="en-US" sz="2200" b="1">
                <a:solidFill>
                  <a:srgbClr val="D4A853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결제확인</a:t>
            </a:r>
            <a:endParaRPr lang="en-US" sz="2200" b="1" dirty="0">
              <a:solidFill>
                <a:srgbClr val="D4A853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4C7280-171D-744A-9A13-8D54D4A11C2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6813" y="2857498"/>
            <a:ext cx="2291197" cy="483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73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400175"/>
            <a:ext cx="1143000" cy="57150"/>
            <a:chOff x="0" y="0"/>
            <a:chExt cx="1524000" cy="762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85800" y="547716"/>
            <a:ext cx="2209800" cy="677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spc="178" dirty="0" err="1">
                <a:latin typeface="Noto Sans"/>
                <a:ea typeface="Noto Sans"/>
                <a:cs typeface="Noto Sans"/>
                <a:sym typeface="Noto Sans"/>
              </a:rPr>
              <a:t>질의응답</a:t>
            </a:r>
            <a:endParaRPr lang="en-US" sz="4050" spc="178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57400" y="2552700"/>
            <a:ext cx="13716000" cy="470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459"/>
              </a:lnSpc>
            </a:pPr>
            <a:r>
              <a:rPr lang="en-US" sz="28899" b="1" dirty="0">
                <a:solidFill>
                  <a:srgbClr val="D4A85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 &amp; A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E8C8333C-F884-97DA-BAFC-6A26BBD2A111}"/>
              </a:ext>
            </a:extLst>
          </p:cNvPr>
          <p:cNvSpPr txBox="1"/>
          <p:nvPr/>
        </p:nvSpPr>
        <p:spPr>
          <a:xfrm>
            <a:off x="17705918" y="9973076"/>
            <a:ext cx="651510" cy="2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997</Words>
  <Application>Microsoft Office PowerPoint</Application>
  <PresentationFormat>사용자 지정</PresentationFormat>
  <Paragraphs>188</Paragraphs>
  <Slides>17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9" baseType="lpstr">
      <vt:lpstr>Nanum Gothic</vt:lpstr>
      <vt:lpstr>Nanum Gothic Bold</vt:lpstr>
      <vt:lpstr>Nanum Gothic Ultra-Bold</vt:lpstr>
      <vt:lpstr>Nanum Square Bold</vt:lpstr>
      <vt:lpstr>경기천년제목 Bold</vt:lpstr>
      <vt:lpstr>맑은 고딕</vt:lpstr>
      <vt:lpstr>윤고딕</vt:lpstr>
      <vt:lpstr>Arial</vt:lpstr>
      <vt:lpstr>Calibri</vt:lpstr>
      <vt:lpstr>Noto Sans</vt:lpstr>
      <vt:lpstr>Noto Sans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캡스톤 발표2025.11.23.pptx 공유용.pdf</dc:title>
  <dc:creator>1817-19</dc:creator>
  <cp:lastModifiedBy>이승재</cp:lastModifiedBy>
  <cp:revision>54</cp:revision>
  <dcterms:created xsi:type="dcterms:W3CDTF">2006-08-16T00:00:00Z</dcterms:created>
  <dcterms:modified xsi:type="dcterms:W3CDTF">2026-06-04T08:57:31Z</dcterms:modified>
  <dc:identifier>DAHKAvaAWdc</dc:identifier>
</cp:coreProperties>
</file>